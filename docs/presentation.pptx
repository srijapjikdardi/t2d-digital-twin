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3A33"/>
                </a:solidFill>
                <a:latin typeface="Calibri"/>
              </a:rPr>
              <a:t>ROC-AUC on held-out virtual patients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B7D9E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3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D9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C5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A79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CGM only</c:v>
                  </c:pt>
                  <c:pt idx="1">
                    <c:v>+ wearable</c:v>
                  </c:pt>
                  <c:pt idx="2">
                    <c:v>+ wearable + EHR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0.782</c:v>
                </c:pt>
                <c:pt idx="1">
                  <c:v>0.948</c:v>
                </c:pt>
                <c:pt idx="2">
                  <c:v>0.958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1F3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3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FE3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3A33"/>
                </a:solidFill>
                <a:latin typeface="Calibri"/>
              </a:rPr>
              <a:t>One simulated day of glucose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Glucose (mg/dL)</c:v>
                </c:pt>
              </c:strCache>
            </c:strRef>
          </c:tx>
          <c:spPr>
            <a:solidFill>
              <a:srgbClr val="3FA796"/>
            </a:solidFill>
            <a:ln w="31750" cap="flat">
              <a:solidFill>
                <a:srgbClr val="3FA7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FA796"/>
              </a:solidFill>
              <a:ln w="9525" cap="flat">
                <a:solidFill>
                  <a:srgbClr val="3FA7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00:00</c:v>
                  </c:pt>
                  <c:pt idx="1">
                    <c:v>01:00</c:v>
                  </c:pt>
                  <c:pt idx="2">
                    <c:v>02:00</c:v>
                  </c:pt>
                  <c:pt idx="3">
                    <c:v>03:00</c:v>
                  </c:pt>
                  <c:pt idx="4">
                    <c:v>04:00</c:v>
                  </c:pt>
                  <c:pt idx="5">
                    <c:v>05:00</c:v>
                  </c:pt>
                  <c:pt idx="6">
                    <c:v>06:00</c:v>
                  </c:pt>
                  <c:pt idx="7">
                    <c:v>07:00</c:v>
                  </c:pt>
                  <c:pt idx="8">
                    <c:v>08:00</c:v>
                  </c:pt>
                  <c:pt idx="9">
                    <c:v>09:00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135.8</c:v>
                </c:pt>
                <c:pt idx="1">
                  <c:v>125.1</c:v>
                </c:pt>
                <c:pt idx="2">
                  <c:v>124.2</c:v>
                </c:pt>
                <c:pt idx="3">
                  <c:v>134.5</c:v>
                </c:pt>
                <c:pt idx="4">
                  <c:v>140</c:v>
                </c:pt>
                <c:pt idx="5">
                  <c:v>144.1</c:v>
                </c:pt>
                <c:pt idx="6">
                  <c:v>148.9</c:v>
                </c:pt>
                <c:pt idx="7">
                  <c:v>148.3</c:v>
                </c:pt>
                <c:pt idx="8">
                  <c:v>138.3</c:v>
                </c:pt>
                <c:pt idx="9">
                  <c:v>175.7</c:v>
                </c:pt>
                <c:pt idx="10">
                  <c:v>200.2</c:v>
                </c:pt>
                <c:pt idx="11">
                  <c:v>176.1</c:v>
                </c:pt>
                <c:pt idx="12">
                  <c:v>141.8</c:v>
                </c:pt>
                <c:pt idx="13">
                  <c:v>134.1</c:v>
                </c:pt>
                <c:pt idx="14">
                  <c:v>141.9</c:v>
                </c:pt>
                <c:pt idx="15">
                  <c:v>224.7</c:v>
                </c:pt>
                <c:pt idx="16">
                  <c:v>206.7</c:v>
                </c:pt>
                <c:pt idx="17">
                  <c:v>141.7</c:v>
                </c:pt>
                <c:pt idx="18">
                  <c:v>141.6</c:v>
                </c:pt>
                <c:pt idx="19">
                  <c:v>142.9</c:v>
                </c:pt>
                <c:pt idx="20">
                  <c:v>217.9</c:v>
                </c:pt>
                <c:pt idx="21">
                  <c:v>223.1</c:v>
                </c:pt>
                <c:pt idx="22">
                  <c:v>194.2</c:v>
                </c:pt>
                <c:pt idx="23">
                  <c:v>134.5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180 mg/dL threshold</c:v>
                </c:pt>
              </c:strCache>
            </c:strRef>
          </c:tx>
          <c:spPr>
            <a:solidFill>
              <a:srgbClr val="F2A488"/>
            </a:solidFill>
            <a:ln w="31750" cap="flat">
              <a:solidFill>
                <a:srgbClr val="F2A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488"/>
              </a:solidFill>
              <a:ln w="9525" cap="flat">
                <a:solidFill>
                  <a:srgbClr val="F2A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00:00</c:v>
                  </c:pt>
                  <c:pt idx="1">
                    <c:v>01:00</c:v>
                  </c:pt>
                  <c:pt idx="2">
                    <c:v>02:00</c:v>
                  </c:pt>
                  <c:pt idx="3">
                    <c:v>03:00</c:v>
                  </c:pt>
                  <c:pt idx="4">
                    <c:v>04:00</c:v>
                  </c:pt>
                  <c:pt idx="5">
                    <c:v>05:00</c:v>
                  </c:pt>
                  <c:pt idx="6">
                    <c:v>06:00</c:v>
                  </c:pt>
                  <c:pt idx="7">
                    <c:v>07:00</c:v>
                  </c:pt>
                  <c:pt idx="8">
                    <c:v>08:00</c:v>
                  </c:pt>
                  <c:pt idx="9">
                    <c:v>09:00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180</c:v>
                </c:pt>
                <c:pt idx="1">
                  <c:v>180</c:v>
                </c:pt>
                <c:pt idx="2">
                  <c:v>180</c:v>
                </c:pt>
                <c:pt idx="3">
                  <c:v>180</c:v>
                </c:pt>
                <c:pt idx="4">
                  <c:v>180</c:v>
                </c:pt>
                <c:pt idx="5">
                  <c:v>180</c:v>
                </c:pt>
                <c:pt idx="6">
                  <c:v>180</c:v>
                </c:pt>
                <c:pt idx="7">
                  <c:v>180</c:v>
                </c:pt>
                <c:pt idx="8">
                  <c:v>180</c:v>
                </c:pt>
                <c:pt idx="9">
                  <c:v>180</c:v>
                </c:pt>
                <c:pt idx="10">
                  <c:v>180</c:v>
                </c:pt>
                <c:pt idx="11">
                  <c:v>180</c:v>
                </c:pt>
                <c:pt idx="12">
                  <c:v>180</c:v>
                </c:pt>
                <c:pt idx="13">
                  <c:v>180</c:v>
                </c:pt>
                <c:pt idx="14">
                  <c:v>180</c:v>
                </c:pt>
                <c:pt idx="15">
                  <c:v>180</c:v>
                </c:pt>
                <c:pt idx="16">
                  <c:v>180</c:v>
                </c:pt>
                <c:pt idx="17">
                  <c:v>180</c:v>
                </c:pt>
                <c:pt idx="18">
                  <c:v>180</c:v>
                </c:pt>
                <c:pt idx="19">
                  <c:v>180</c:v>
                </c:pt>
                <c:pt idx="20">
                  <c:v>180</c:v>
                </c:pt>
                <c:pt idx="21">
                  <c:v>180</c:v>
                </c:pt>
                <c:pt idx="22">
                  <c:v>180</c:v>
                </c:pt>
                <c:pt idx="23">
                  <c:v>180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CFE3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3A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large"/>
          <p:cNvSpPr/>
          <p:nvPr/>
        </p:nvSpPr>
        <p:spPr>
          <a:xfrm>
            <a:off x="7589520" y="914400"/>
            <a:ext cx="4206240" cy="4206240"/>
          </a:xfrm>
          <a:prstGeom prst="ellipse">
            <a:avLst/>
          </a:prstGeom>
          <a:solidFill>
            <a:srgbClr val="DDEFE6"/>
          </a:solidFill>
          <a:ln w="12700">
            <a:solidFill>
              <a:srgbClr val="DDEFE6"/>
            </a:solidFill>
            <a:prstDash val="solid"/>
          </a:ln>
        </p:spPr>
      </p:sp>
      <p:sp>
        <p:nvSpPr>
          <p:cNvPr id="3" name="circle-sky"/>
          <p:cNvSpPr/>
          <p:nvPr/>
        </p:nvSpPr>
        <p:spPr>
          <a:xfrm>
            <a:off x="7040880" y="3566160"/>
            <a:ext cx="2103120" cy="2103120"/>
          </a:xfrm>
          <a:prstGeom prst="ellipse">
            <a:avLst/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</p:spPr>
      </p:sp>
      <p:sp>
        <p:nvSpPr>
          <p:cNvPr id="4" name="circle-peach"/>
          <p:cNvSpPr/>
          <p:nvPr/>
        </p:nvSpPr>
        <p:spPr>
          <a:xfrm>
            <a:off x="10332720" y="4389120"/>
            <a:ext cx="1188720" cy="1188720"/>
          </a:xfrm>
          <a:prstGeom prst="ellipse">
            <a:avLst/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0" y="2011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786384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window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T2D Digital Twin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hyperglycaemic events by fusing EHR and wearable data streams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and Technology, Patiala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Reimagining and Reforming Healthcare in India Summit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care in India is still reactive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  |  Thapar Institute of Engineering and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tat-101 M"/>
          <p:cNvSpPr/>
          <p:nvPr/>
        </p:nvSpPr>
        <p:spPr>
          <a:xfrm>
            <a:off x="548640" y="16459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 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with diabetes in India (ICMR-INDIAB, 2023)</a:t>
            </a:r>
            <a:endParaRPr lang="en-US" sz="1500" dirty="0"/>
          </a:p>
        </p:txBody>
      </p:sp>
      <p:sp>
        <p:nvSpPr>
          <p:cNvPr id="8" name="stat-Blind spots"/>
          <p:cNvSpPr/>
          <p:nvPr/>
        </p:nvSpPr>
        <p:spPr>
          <a:xfrm>
            <a:off x="4361688" y="16459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36008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B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spots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spikes between clinic visits go unseen</a:t>
            </a:r>
            <a:endParaRPr lang="en-US" sz="1500" dirty="0"/>
          </a:p>
        </p:txBody>
      </p:sp>
      <p:sp>
        <p:nvSpPr>
          <p:cNvPr id="11" name="stat-2 h"/>
          <p:cNvSpPr/>
          <p:nvPr/>
        </p:nvSpPr>
        <p:spPr>
          <a:xfrm>
            <a:off x="8165592" y="16459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39912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439912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ahead: the warning window this twin aims for</a:t>
            </a:r>
            <a:endParaRPr lang="en-US" sz="1500" dirty="0"/>
          </a:p>
        </p:txBody>
      </p:sp>
      <p:sp>
        <p:nvSpPr>
          <p:cNvPr id="14" name="goal-card"/>
          <p:cNvSpPr/>
          <p:nvPr/>
        </p:nvSpPr>
        <p:spPr>
          <a:xfrm>
            <a:off x="548640" y="3931920"/>
            <a:ext cx="11091672" cy="2011680"/>
          </a:xfrm>
          <a:prstGeom prst="roundRect">
            <a:avLst>
              <a:gd name="adj" fmla="val 6818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6177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replica of the patient that predicts adverse glycaemic events before they happen, and lets the doctor test lifestyle changes virtually.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digital twin fuses two data streams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  |  Thapar Institute of Engineering and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card-static"/>
          <p:cNvSpPr/>
          <p:nvPr/>
        </p:nvSpPr>
        <p:spPr>
          <a:xfrm>
            <a:off x="548640" y="1554480"/>
            <a:ext cx="4023360" cy="3383280"/>
          </a:xfrm>
          <a:prstGeom prst="roundRect">
            <a:avLst>
              <a:gd name="adj" fmla="val 4054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Static: EHR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BMI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HbA1c, fasting glucose, eGFR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duration, medication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marker (TCF7L2)</a:t>
            </a:r>
            <a:endParaRPr lang="en-US" sz="1800" dirty="0"/>
          </a:p>
        </p:txBody>
      </p:sp>
      <p:sp>
        <p:nvSpPr>
          <p:cNvPr id="8" name="card-dynamic"/>
          <p:cNvSpPr/>
          <p:nvPr/>
        </p:nvSpPr>
        <p:spPr>
          <a:xfrm>
            <a:off x="7616952" y="1554480"/>
            <a:ext cx="4023360" cy="3383280"/>
          </a:xfrm>
          <a:prstGeom prst="roundRect">
            <a:avLst>
              <a:gd name="adj" fmla="val 4054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891272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8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Dynamic: wearable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23774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(CGM), every 15 min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sleep hours</a:t>
            </a:r>
            <a:endParaRPr lang="en-US" sz="1800" dirty="0"/>
          </a:p>
        </p:txBody>
      </p:sp>
      <p:sp>
        <p:nvSpPr>
          <p:cNvPr id="11" name="arrow-left"/>
          <p:cNvSpPr/>
          <p:nvPr/>
        </p:nvSpPr>
        <p:spPr>
          <a:xfrm>
            <a:off x="4617720" y="3063240"/>
            <a:ext cx="274320" cy="365760"/>
          </a:xfrm>
          <a:prstGeom prst="rightArrow">
            <a:avLst/>
          </a:prstGeom>
          <a:solidFill>
            <a:srgbClr val="3FA796"/>
          </a:solidFill>
          <a:ln w="12700">
            <a:solidFill>
              <a:srgbClr val="3FA796"/>
            </a:solidFill>
            <a:prstDash val="solid"/>
          </a:ln>
        </p:spPr>
      </p:sp>
      <p:sp>
        <p:nvSpPr>
          <p:cNvPr id="12" name="arrow-right"/>
          <p:cNvSpPr/>
          <p:nvPr/>
        </p:nvSpPr>
        <p:spPr>
          <a:xfrm>
            <a:off x="7296912" y="3063240"/>
            <a:ext cx="274320" cy="365760"/>
          </a:xfrm>
          <a:prstGeom prst="rightArrow">
            <a:avLst/>
          </a:prstGeom>
          <a:solidFill>
            <a:srgbClr val="3FA796"/>
          </a:solidFill>
          <a:ln w="12700">
            <a:solidFill>
              <a:srgbClr val="3FA796"/>
            </a:solidFill>
            <a:prstDash val="solid"/>
          </a:ln>
        </p:spPr>
      </p:sp>
      <p:sp>
        <p:nvSpPr>
          <p:cNvPr id="13" name="twin-circle"/>
          <p:cNvSpPr/>
          <p:nvPr/>
        </p:nvSpPr>
        <p:spPr>
          <a:xfrm>
            <a:off x="4937760" y="2093976"/>
            <a:ext cx="2313432" cy="2313432"/>
          </a:xfrm>
          <a:prstGeom prst="ellipse">
            <a:avLst/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37760" y="260604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Twin model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108960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risk and what-if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condition: Type 2 Diabetes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Privacy-safe synthetic data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  |  Thapar Institute of Engineering and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tat-300"/>
          <p:cNvSpPr/>
          <p:nvPr/>
        </p:nvSpPr>
        <p:spPr>
          <a:xfrm>
            <a:off x="548640" y="16459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patients</a:t>
            </a:r>
            <a:endParaRPr lang="en-US" sz="1500" dirty="0"/>
          </a:p>
        </p:txBody>
      </p:sp>
      <p:sp>
        <p:nvSpPr>
          <p:cNvPr id="8" name="stat-14 days"/>
          <p:cNvSpPr/>
          <p:nvPr/>
        </p:nvSpPr>
        <p:spPr>
          <a:xfrm>
            <a:off x="4361688" y="16459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36008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B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days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monitoring each</a:t>
            </a:r>
            <a:endParaRPr lang="en-US" sz="1500" dirty="0"/>
          </a:p>
        </p:txBody>
      </p:sp>
      <p:sp>
        <p:nvSpPr>
          <p:cNvPr id="11" name="stat-15 min"/>
          <p:cNvSpPr/>
          <p:nvPr/>
        </p:nvSpPr>
        <p:spPr>
          <a:xfrm>
            <a:off x="8165592" y="16459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39912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439912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resolution</a:t>
            </a:r>
            <a:endParaRPr lang="en-US" sz="1500" dirty="0"/>
          </a:p>
        </p:txBody>
      </p:sp>
      <p:sp>
        <p:nvSpPr>
          <p:cNvPr id="14" name="sim-card"/>
          <p:cNvSpPr/>
          <p:nvPr/>
        </p:nvSpPr>
        <p:spPr>
          <a:xfrm>
            <a:off x="548640" y="3749040"/>
            <a:ext cx="11091672" cy="2286000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simulator works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3484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Meal-driven glucose spikes from Indian-diet carbohydrate loads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by insulin resistance from BMI, HbA1c, TCF7L2 alleles and metformin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Post-meal walking lowers the spike; short sleep raises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patient data: DPDP Act and HIPAA safe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  |  Thapar Institute of Engineering and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arch-ehr"/>
          <p:cNvSpPr/>
          <p:nvPr/>
        </p:nvSpPr>
        <p:spPr>
          <a:xfrm>
            <a:off x="548640" y="1554480"/>
            <a:ext cx="2377440" cy="1554480"/>
          </a:xfrm>
          <a:prstGeom prst="roundRect">
            <a:avLst>
              <a:gd name="adj" fmla="val 8824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EHR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BMI, HbA1c, eGFR, genetics</a:t>
            </a:r>
            <a:endParaRPr lang="en-US" sz="1400" dirty="0"/>
          </a:p>
        </p:txBody>
      </p:sp>
      <p:sp>
        <p:nvSpPr>
          <p:cNvPr id="8" name="arch-wear"/>
          <p:cNvSpPr/>
          <p:nvPr/>
        </p:nvSpPr>
        <p:spPr>
          <a:xfrm>
            <a:off x="548640" y="3383280"/>
            <a:ext cx="2377440" cy="1554480"/>
          </a:xfrm>
          <a:prstGeom prst="roundRect">
            <a:avLst>
              <a:gd name="adj" fmla="val 8824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3520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 stream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977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heart rate, steps, sleep</a:t>
            </a:r>
            <a:endParaRPr lang="en-US" sz="1400" dirty="0"/>
          </a:p>
        </p:txBody>
      </p:sp>
      <p:sp>
        <p:nvSpPr>
          <p:cNvPr id="11" name="flow-arrow"/>
          <p:cNvSpPr/>
          <p:nvPr/>
        </p:nvSpPr>
        <p:spPr>
          <a:xfrm>
            <a:off x="3035808" y="2148840"/>
            <a:ext cx="320040" cy="365760"/>
          </a:xfrm>
          <a:prstGeom prst="rightArrow">
            <a:avLst/>
          </a:prstGeom>
          <a:solidFill>
            <a:srgbClr val="3FA796"/>
          </a:solidFill>
          <a:ln w="12700">
            <a:solidFill>
              <a:srgbClr val="3FA796"/>
            </a:solidFill>
            <a:prstDash val="solid"/>
          </a:ln>
        </p:spPr>
      </p:sp>
      <p:sp>
        <p:nvSpPr>
          <p:cNvPr id="12" name="flow-arrow"/>
          <p:cNvSpPr/>
          <p:nvPr/>
        </p:nvSpPr>
        <p:spPr>
          <a:xfrm>
            <a:off x="3035808" y="3977640"/>
            <a:ext cx="320040" cy="365760"/>
          </a:xfrm>
          <a:prstGeom prst="rightArrow">
            <a:avLst/>
          </a:prstGeom>
          <a:solidFill>
            <a:srgbClr val="3FA796"/>
          </a:solidFill>
          <a:ln w="12700">
            <a:solidFill>
              <a:srgbClr val="3FA796"/>
            </a:solidFill>
            <a:prstDash val="solid"/>
          </a:ln>
        </p:spPr>
      </p:sp>
      <p:sp>
        <p:nvSpPr>
          <p:cNvPr id="13" name="arch-fusion"/>
          <p:cNvSpPr/>
          <p:nvPr/>
        </p:nvSpPr>
        <p:spPr>
          <a:xfrm>
            <a:off x="3474720" y="2377440"/>
            <a:ext cx="2377440" cy="1737360"/>
          </a:xfrm>
          <a:prstGeom prst="roundRect">
            <a:avLst>
              <a:gd name="adj" fmla="val 7895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1188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fusion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971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 CGM window, steps, HR, sleep, time of day, EHR vector</a:t>
            </a:r>
            <a:endParaRPr lang="en-US" sz="1400" dirty="0"/>
          </a:p>
        </p:txBody>
      </p:sp>
      <p:sp>
        <p:nvSpPr>
          <p:cNvPr id="16" name="flow-arrow"/>
          <p:cNvSpPr/>
          <p:nvPr/>
        </p:nvSpPr>
        <p:spPr>
          <a:xfrm>
            <a:off x="5961888" y="3063240"/>
            <a:ext cx="320040" cy="365760"/>
          </a:xfrm>
          <a:prstGeom prst="rightArrow">
            <a:avLst/>
          </a:prstGeom>
          <a:solidFill>
            <a:srgbClr val="3FA796"/>
          </a:solidFill>
          <a:ln w="12700">
            <a:solidFill>
              <a:srgbClr val="3FA796"/>
            </a:solidFill>
            <a:prstDash val="solid"/>
          </a:ln>
        </p:spPr>
      </p:sp>
      <p:sp>
        <p:nvSpPr>
          <p:cNvPr id="17" name="arch-model"/>
          <p:cNvSpPr/>
          <p:nvPr/>
        </p:nvSpPr>
        <p:spPr>
          <a:xfrm>
            <a:off x="6400800" y="2377440"/>
            <a:ext cx="2377440" cy="1737360"/>
          </a:xfrm>
          <a:prstGeom prst="roundRect">
            <a:avLst>
              <a:gd name="adj" fmla="val 7895"/>
            </a:avLst>
          </a:prstGeom>
          <a:solidFill>
            <a:srgbClr val="DDEFE6"/>
          </a:solidFill>
          <a:ln w="12700">
            <a:solidFill>
              <a:srgbClr val="DDEFE6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379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Twin model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971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P(glucose &gt; 180 mg/dL in 2 h)</a:t>
            </a:r>
            <a:endParaRPr lang="en-US" sz="1400" dirty="0"/>
          </a:p>
        </p:txBody>
      </p:sp>
      <p:sp>
        <p:nvSpPr>
          <p:cNvPr id="20" name="flow-arrow"/>
          <p:cNvSpPr/>
          <p:nvPr/>
        </p:nvSpPr>
        <p:spPr>
          <a:xfrm>
            <a:off x="8887968" y="3063240"/>
            <a:ext cx="320040" cy="365760"/>
          </a:xfrm>
          <a:prstGeom prst="rightArrow">
            <a:avLst/>
          </a:prstGeom>
          <a:solidFill>
            <a:srgbClr val="3FA796"/>
          </a:solidFill>
          <a:ln w="12700">
            <a:solidFill>
              <a:srgbClr val="3FA796"/>
            </a:solidFill>
            <a:prstDash val="solid"/>
          </a:ln>
        </p:spPr>
      </p:sp>
      <p:sp>
        <p:nvSpPr>
          <p:cNvPr id="21" name="arch-dash"/>
          <p:cNvSpPr/>
          <p:nvPr/>
        </p:nvSpPr>
        <p:spPr>
          <a:xfrm>
            <a:off x="9326880" y="1554480"/>
            <a:ext cx="2313432" cy="1554480"/>
          </a:xfrm>
          <a:prstGeom prst="roundRect">
            <a:avLst>
              <a:gd name="adj" fmla="val 8824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464040" y="169164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21488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card, glucose trace, risk alerts</a:t>
            </a:r>
            <a:endParaRPr lang="en-US" sz="1400" dirty="0"/>
          </a:p>
        </p:txBody>
      </p:sp>
      <p:sp>
        <p:nvSpPr>
          <p:cNvPr id="24" name="arch-whatif"/>
          <p:cNvSpPr/>
          <p:nvPr/>
        </p:nvSpPr>
        <p:spPr>
          <a:xfrm>
            <a:off x="9326880" y="3383280"/>
            <a:ext cx="2313432" cy="1554480"/>
          </a:xfrm>
          <a:prstGeom prst="roundRect">
            <a:avLst>
              <a:gd name="adj" fmla="val 8824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464040" y="352044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engine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464040" y="397764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and sleep change the risk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ablation of CGM only vs + wearable vs + EHR, with ROC-AUC, PR-AUC and permutation importance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twin learns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  |  Thapar Institute of Engineering and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tat-8"/>
          <p:cNvSpPr/>
          <p:nvPr/>
        </p:nvSpPr>
        <p:spPr>
          <a:xfrm>
            <a:off x="548640" y="16459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window features: level, spread, trend over 2 h</a:t>
            </a:r>
            <a:endParaRPr lang="en-US" sz="1500" dirty="0"/>
          </a:p>
        </p:txBody>
      </p:sp>
      <p:sp>
        <p:nvSpPr>
          <p:cNvPr id="8" name="stat-7"/>
          <p:cNvSpPr/>
          <p:nvPr/>
        </p:nvSpPr>
        <p:spPr>
          <a:xfrm>
            <a:off x="4361688" y="16459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36008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B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and time features: steps, heart rate, sleep, hour</a:t>
            </a:r>
            <a:endParaRPr lang="en-US" sz="1500" dirty="0"/>
          </a:p>
        </p:txBody>
      </p:sp>
      <p:sp>
        <p:nvSpPr>
          <p:cNvPr id="11" name="stat-11"/>
          <p:cNvSpPr/>
          <p:nvPr/>
        </p:nvSpPr>
        <p:spPr>
          <a:xfrm>
            <a:off x="8165592" y="164592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39912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439912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features: demographics, labs, genetics, medication</a:t>
            </a:r>
            <a:endParaRPr lang="en-US" sz="1500" dirty="0"/>
          </a:p>
        </p:txBody>
      </p:sp>
      <p:sp>
        <p:nvSpPr>
          <p:cNvPr id="14" name="model-card"/>
          <p:cNvSpPr/>
          <p:nvPr/>
        </p:nvSpPr>
        <p:spPr>
          <a:xfrm>
            <a:off x="548640" y="3931920"/>
            <a:ext cx="11091672" cy="2011680"/>
          </a:xfrm>
          <a:prstGeom prst="roundRect">
            <a:avLst>
              <a:gd name="adj" fmla="val 6818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and training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6177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glucose exceed 180 mg/dL within the next 2 hours, given it is at or below 180 now? Gradient boosting classifier, trained on 75% of patients and tested on unseen 25% (no leakage).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Fusing both streams wins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  |  Thapar Institute of Engineering and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chart-card"/>
          <p:cNvSpPr/>
          <p:nvPr/>
        </p:nvSpPr>
        <p:spPr>
          <a:xfrm>
            <a:off x="548640" y="1463040"/>
            <a:ext cx="6949440" cy="4480560"/>
          </a:xfrm>
          <a:prstGeom prst="roundRect">
            <a:avLst>
              <a:gd name="adj" fmla="val 3061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731520" y="164592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tat-0.958"/>
          <p:cNvSpPr/>
          <p:nvPr/>
        </p:nvSpPr>
        <p:spPr>
          <a:xfrm>
            <a:off x="7863840" y="1463040"/>
            <a:ext cx="3776472" cy="1828800"/>
          </a:xfrm>
          <a:prstGeom prst="roundRect">
            <a:avLst>
              <a:gd name="adj" fmla="val 7500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138160" y="1691640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0.958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51460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full twin</a:t>
            </a:r>
            <a:endParaRPr lang="en-US" sz="1500" dirty="0"/>
          </a:p>
        </p:txBody>
      </p:sp>
      <p:sp>
        <p:nvSpPr>
          <p:cNvPr id="10" name="stat-0.79"/>
          <p:cNvSpPr/>
          <p:nvPr/>
        </p:nvSpPr>
        <p:spPr>
          <a:xfrm>
            <a:off x="7863840" y="3520440"/>
            <a:ext cx="1783080" cy="1828800"/>
          </a:xfrm>
          <a:prstGeom prst="roundRect">
            <a:avLst>
              <a:gd name="adj" fmla="val 7692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138160" y="3749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C8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572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3" name="stat-0.71"/>
          <p:cNvSpPr/>
          <p:nvPr/>
        </p:nvSpPr>
        <p:spPr>
          <a:xfrm>
            <a:off x="9857232" y="3520440"/>
            <a:ext cx="1783080" cy="1828800"/>
          </a:xfrm>
          <a:prstGeom prst="roundRect">
            <a:avLst>
              <a:gd name="adj" fmla="val 7692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0131552" y="3749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C8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10131552" y="4572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54864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an upper bound, not clinical evidence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Doctor's view of the virtual patient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  |  Thapar Institute of Engineering and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patient-card"/>
          <p:cNvSpPr/>
          <p:nvPr/>
        </p:nvSpPr>
        <p:spPr>
          <a:xfrm>
            <a:off x="548640" y="1463040"/>
            <a:ext cx="3017520" cy="4480560"/>
          </a:xfrm>
          <a:prstGeom prst="roundRect">
            <a:avLst>
              <a:gd name="adj" fmla="val 4545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#3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card: age, BMI, HbA1c, eGFR, medication, genetic risk, with live glucose, sleep and steps</a:t>
            </a:r>
            <a:endParaRPr lang="en-US" sz="1600" dirty="0"/>
          </a:p>
        </p:txBody>
      </p:sp>
      <p:sp>
        <p:nvSpPr>
          <p:cNvPr id="8" name="alert-pill"/>
          <p:cNvSpPr/>
          <p:nvPr/>
        </p:nvSpPr>
        <p:spPr>
          <a:xfrm>
            <a:off x="822960" y="457200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617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2 h risk passes the chosen threshold</a:t>
            </a:r>
            <a:endParaRPr lang="en-US" sz="1400" dirty="0"/>
          </a:p>
        </p:txBody>
      </p:sp>
      <p:sp>
        <p:nvSpPr>
          <p:cNvPr id="10" name="glucose-card"/>
          <p:cNvSpPr/>
          <p:nvPr/>
        </p:nvSpPr>
        <p:spPr>
          <a:xfrm>
            <a:off x="3840480" y="1463040"/>
            <a:ext cx="7799832" cy="2834640"/>
          </a:xfrm>
          <a:prstGeom prst="roundRect">
            <a:avLst>
              <a:gd name="adj" fmla="val 4839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graphicFrame>
        <p:nvGraphicFramePr>
          <p:cNvPr id="11" name="Chart 0" descr=""/>
          <p:cNvGraphicFramePr/>
          <p:nvPr/>
        </p:nvGraphicFramePr>
        <p:xfrm>
          <a:off x="3977640" y="1554480"/>
          <a:ext cx="74980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whatif-card"/>
          <p:cNvSpPr/>
          <p:nvPr/>
        </p:nvSpPr>
        <p:spPr>
          <a:xfrm>
            <a:off x="3840480" y="4526280"/>
            <a:ext cx="7799832" cy="1417320"/>
          </a:xfrm>
          <a:prstGeom prst="roundRect">
            <a:avLst>
              <a:gd name="adj" fmla="val 9677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11480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simulation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0" y="5074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steps or sleep up or down and the twin re-scores the 2 hour risk instantly.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matters, and what to be honest about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  |  Thapar Institute of Engineering and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india-card"/>
          <p:cNvSpPr/>
          <p:nvPr/>
        </p:nvSpPr>
        <p:spPr>
          <a:xfrm>
            <a:off x="548640" y="1554480"/>
            <a:ext cx="5440680" cy="3566160"/>
          </a:xfrm>
          <a:prstGeom prst="roundRect">
            <a:avLst>
              <a:gd name="adj" fmla="val 3846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to India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and growing T2D burden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Carbohydrate-heavy diets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wearables and CGM are spreading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 support earlier intervention</a:t>
            </a:r>
            <a:endParaRPr lang="en-US" sz="1800" dirty="0"/>
          </a:p>
        </p:txBody>
      </p:sp>
      <p:sp>
        <p:nvSpPr>
          <p:cNvPr id="8" name="limits-card"/>
          <p:cNvSpPr/>
          <p:nvPr/>
        </p:nvSpPr>
        <p:spPr>
          <a:xfrm>
            <a:off x="6199632" y="1554480"/>
            <a:ext cx="5440680" cy="3566160"/>
          </a:xfrm>
          <a:prstGeom prst="roundRect">
            <a:avLst>
              <a:gd name="adj" fmla="val 3846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7395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42316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results are an upper bound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encodes assumed physiology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high glucose only, not lows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medical device; not clinically validated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Japji Kaur Dardi  |  Thapar Institute of Engineering and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next-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5263"/>
            </a:avLst>
          </a:prstGeom>
          <a:solidFill>
            <a:srgbClr val="EEF7F2"/>
          </a:solidFill>
          <a:ln w="12700">
            <a:solidFill>
              <a:srgbClr val="EEF7F2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6" name="num-1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on real data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de-identified CGM datasets and Synthea / MIMIC-IV EHR</a:t>
            </a:r>
            <a:endParaRPr lang="en-US" sz="1500" dirty="0"/>
          </a:p>
        </p:txBody>
      </p:sp>
      <p:sp>
        <p:nvSpPr>
          <p:cNvPr id="10" name="next-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5263"/>
            </a:avLst>
          </a:prstGeom>
          <a:solidFill>
            <a:srgbClr val="E4F1FA"/>
          </a:solidFill>
          <a:ln w="12700">
            <a:solidFill>
              <a:srgbClr val="E4F1FA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1" name="num-2"/>
          <p:cNvSpPr/>
          <p:nvPr/>
        </p:nvSpPr>
        <p:spPr>
          <a:xfrm>
            <a:off x="3639312" y="20116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9312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C8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signals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HRV, sleep stages, meal logging, Indian food database</a:t>
            </a:r>
            <a:endParaRPr lang="en-US" sz="1500" dirty="0"/>
          </a:p>
        </p:txBody>
      </p:sp>
      <p:sp>
        <p:nvSpPr>
          <p:cNvPr id="15" name="next-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5263"/>
            </a:avLst>
          </a:prstGeom>
          <a:solidFill>
            <a:srgbClr val="FDEBE3"/>
          </a:solidFill>
          <a:ln w="12700">
            <a:solidFill>
              <a:srgbClr val="FDEBE3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16" name="num-3"/>
          <p:cNvSpPr/>
          <p:nvPr/>
        </p:nvSpPr>
        <p:spPr>
          <a:xfrm>
            <a:off x="6455664" y="20116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5664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models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TCN sequence models, SHAP explanations</a:t>
            </a:r>
            <a:endParaRPr lang="en-US" sz="1500" dirty="0"/>
          </a:p>
        </p:txBody>
      </p:sp>
      <p:sp>
        <p:nvSpPr>
          <p:cNvPr id="20" name="next-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5263"/>
            </a:avLst>
          </a:prstGeom>
          <a:solidFill>
            <a:srgbClr val="DDEFE6"/>
          </a:solidFill>
          <a:ln w="12700">
            <a:solidFill>
              <a:srgbClr val="DDEFE6"/>
            </a:solidFill>
            <a:prstDash val="solid"/>
          </a:ln>
          <a:effectLst>
            <a:outerShdw sx="100000" sy="100000" kx="0" ky="0" algn="bl" rotWithShape="0" blurRad="101600" dist="25400" dir="5400000">
              <a:srgbClr val="8FB5A6">
                <a:alpha val="25000"/>
              </a:srgbClr>
            </a:outerShdw>
          </a:effectLst>
        </p:spPr>
      </p:sp>
      <p:sp>
        <p:nvSpPr>
          <p:cNvPr id="21" name="num-4"/>
          <p:cNvSpPr/>
          <p:nvPr/>
        </p:nvSpPr>
        <p:spPr>
          <a:xfrm>
            <a:off x="9272016" y="20116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72016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017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 pilot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72016" y="3931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usefulness and alert fatigue with doctors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T2D Digital Twin</dc:title>
  <dc:subject>PptxGenJS Presentation</dc:subject>
  <dc:creator>Sri Japji Kaur Dardi</dc:creator>
  <cp:lastModifiedBy>Sri Japji Kaur Dardi</cp:lastModifiedBy>
  <cp:revision>1</cp:revision>
  <dcterms:created xsi:type="dcterms:W3CDTF">2026-10-18T12:33:29Z</dcterms:created>
  <dcterms:modified xsi:type="dcterms:W3CDTF">2026-10-18T12:33:29Z</dcterms:modified>
</cp:coreProperties>
</file>