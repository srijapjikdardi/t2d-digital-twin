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3A33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F3A33"/>
                </a:solidFill>
                <a:latin typeface="Calibri"/>
              </a:rPr>
              <a:t>ROC-AUC on held-out virtual patients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High (&gt;180)</c:v>
                </c:pt>
              </c:strCache>
            </c:strRef>
          </c:tx>
          <c:spPr>
            <a:solidFill>
              <a:srgbClr val="3FA79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3A3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CGM only</c:v>
                  </c:pt>
                  <c:pt idx="1">
                    <c:v>+ wearable</c:v>
                  </c:pt>
                  <c:pt idx="2">
                    <c:v>+ wearable + EHR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0.788</c:v>
                </c:pt>
                <c:pt idx="1">
                  <c:v>0.936</c:v>
                </c:pt>
                <c:pt idx="2">
                  <c:v>0.947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Low (&lt;70)</c:v>
                </c:pt>
              </c:strCache>
            </c:strRef>
          </c:tx>
          <c:spPr>
            <a:solidFill>
              <a:srgbClr val="6FB3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3A3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CGM only</c:v>
                  </c:pt>
                  <c:pt idx="1">
                    <c:v>+ wearable</c:v>
                  </c:pt>
                  <c:pt idx="2">
                    <c:v>+ wearable + EHR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0.942</c:v>
                </c:pt>
                <c:pt idx="1">
                  <c:v>0.962</c:v>
                </c:pt>
                <c:pt idx="2">
                  <c:v>0.981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F3A33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3A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CFE3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7A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3A33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3A33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F3A33"/>
                </a:solidFill>
                <a:latin typeface="Calibri"/>
              </a:rPr>
              <a:t>One simulated day of glucose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Glucose (mg/dL)</c:v>
                </c:pt>
              </c:strCache>
            </c:strRef>
          </c:tx>
          <c:spPr>
            <a:solidFill>
              <a:srgbClr val="3FA796"/>
            </a:solidFill>
            <a:ln w="31750" cap="flat">
              <a:solidFill>
                <a:srgbClr val="3FA7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FA796"/>
              </a:solidFill>
              <a:ln w="9525" cap="flat">
                <a:solidFill>
                  <a:srgbClr val="3FA7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00:00</c:v>
                  </c:pt>
                  <c:pt idx="1">
                    <c:v>01:00</c:v>
                  </c:pt>
                  <c:pt idx="2">
                    <c:v>02:00</c:v>
                  </c:pt>
                  <c:pt idx="3">
                    <c:v>03:00</c:v>
                  </c:pt>
                  <c:pt idx="4">
                    <c:v>04:00</c:v>
                  </c:pt>
                  <c:pt idx="5">
                    <c:v>05:00</c:v>
                  </c:pt>
                  <c:pt idx="6">
                    <c:v>06:00</c:v>
                  </c:pt>
                  <c:pt idx="7">
                    <c:v>07:00</c:v>
                  </c:pt>
                  <c:pt idx="8">
                    <c:v>08:00</c:v>
                  </c:pt>
                  <c:pt idx="9">
                    <c:v>09:00</c:v>
                  </c:pt>
                  <c:pt idx="10">
                    <c:v>10:00</c:v>
                  </c:pt>
                  <c:pt idx="11">
                    <c:v>11:00</c:v>
                  </c:pt>
                  <c:pt idx="12">
                    <c:v>12:00</c:v>
                  </c:pt>
                  <c:pt idx="13">
                    <c:v>13:00</c:v>
                  </c:pt>
                  <c:pt idx="14">
                    <c:v>14:00</c:v>
                  </c:pt>
                  <c:pt idx="15">
                    <c:v>15:00</c:v>
                  </c:pt>
                  <c:pt idx="16">
                    <c:v>16:00</c:v>
                  </c:pt>
                  <c:pt idx="17">
                    <c:v>17:00</c:v>
                  </c:pt>
                  <c:pt idx="18">
                    <c:v>18:00</c:v>
                  </c:pt>
                  <c:pt idx="19">
                    <c:v>19:00</c:v>
                  </c:pt>
                  <c:pt idx="20">
                    <c:v>20:00</c:v>
                  </c:pt>
                  <c:pt idx="21">
                    <c:v>21:00</c:v>
                  </c:pt>
                  <c:pt idx="22">
                    <c:v>22:00</c:v>
                  </c:pt>
                  <c:pt idx="23">
                    <c:v>23:00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135.8</c:v>
                </c:pt>
                <c:pt idx="1">
                  <c:v>125.1</c:v>
                </c:pt>
                <c:pt idx="2">
                  <c:v>124.2</c:v>
                </c:pt>
                <c:pt idx="3">
                  <c:v>134.5</c:v>
                </c:pt>
                <c:pt idx="4">
                  <c:v>140</c:v>
                </c:pt>
                <c:pt idx="5">
                  <c:v>144.1</c:v>
                </c:pt>
                <c:pt idx="6">
                  <c:v>148.9</c:v>
                </c:pt>
                <c:pt idx="7">
                  <c:v>148.3</c:v>
                </c:pt>
                <c:pt idx="8">
                  <c:v>138.3</c:v>
                </c:pt>
                <c:pt idx="9">
                  <c:v>175.7</c:v>
                </c:pt>
                <c:pt idx="10">
                  <c:v>200.2</c:v>
                </c:pt>
                <c:pt idx="11">
                  <c:v>176.1</c:v>
                </c:pt>
                <c:pt idx="12">
                  <c:v>141.8</c:v>
                </c:pt>
                <c:pt idx="13">
                  <c:v>134.1</c:v>
                </c:pt>
                <c:pt idx="14">
                  <c:v>141.9</c:v>
                </c:pt>
                <c:pt idx="15">
                  <c:v>224.7</c:v>
                </c:pt>
                <c:pt idx="16">
                  <c:v>206.7</c:v>
                </c:pt>
                <c:pt idx="17">
                  <c:v>141.7</c:v>
                </c:pt>
                <c:pt idx="18">
                  <c:v>141.6</c:v>
                </c:pt>
                <c:pt idx="19">
                  <c:v>142.9</c:v>
                </c:pt>
                <c:pt idx="20">
                  <c:v>217.9</c:v>
                </c:pt>
                <c:pt idx="21">
                  <c:v>223.1</c:v>
                </c:pt>
                <c:pt idx="22">
                  <c:v>194.2</c:v>
                </c:pt>
                <c:pt idx="23">
                  <c:v>134.5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180 mg/dL high threshold</c:v>
                </c:pt>
              </c:strCache>
            </c:strRef>
          </c:tx>
          <c:spPr>
            <a:solidFill>
              <a:srgbClr val="F2A488"/>
            </a:solidFill>
            <a:ln w="31750" cap="flat">
              <a:solidFill>
                <a:srgbClr val="F2A48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2A488"/>
              </a:solidFill>
              <a:ln w="9525" cap="flat">
                <a:solidFill>
                  <a:srgbClr val="F2A48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00:00</c:v>
                  </c:pt>
                  <c:pt idx="1">
                    <c:v>01:00</c:v>
                  </c:pt>
                  <c:pt idx="2">
                    <c:v>02:00</c:v>
                  </c:pt>
                  <c:pt idx="3">
                    <c:v>03:00</c:v>
                  </c:pt>
                  <c:pt idx="4">
                    <c:v>04:00</c:v>
                  </c:pt>
                  <c:pt idx="5">
                    <c:v>05:00</c:v>
                  </c:pt>
                  <c:pt idx="6">
                    <c:v>06:00</c:v>
                  </c:pt>
                  <c:pt idx="7">
                    <c:v>07:00</c:v>
                  </c:pt>
                  <c:pt idx="8">
                    <c:v>08:00</c:v>
                  </c:pt>
                  <c:pt idx="9">
                    <c:v>09:00</c:v>
                  </c:pt>
                  <c:pt idx="10">
                    <c:v>10:00</c:v>
                  </c:pt>
                  <c:pt idx="11">
                    <c:v>11:00</c:v>
                  </c:pt>
                  <c:pt idx="12">
                    <c:v>12:00</c:v>
                  </c:pt>
                  <c:pt idx="13">
                    <c:v>13:00</c:v>
                  </c:pt>
                  <c:pt idx="14">
                    <c:v>14:00</c:v>
                  </c:pt>
                  <c:pt idx="15">
                    <c:v>15:00</c:v>
                  </c:pt>
                  <c:pt idx="16">
                    <c:v>16:00</c:v>
                  </c:pt>
                  <c:pt idx="17">
                    <c:v>17:00</c:v>
                  </c:pt>
                  <c:pt idx="18">
                    <c:v>18:00</c:v>
                  </c:pt>
                  <c:pt idx="19">
                    <c:v>19:00</c:v>
                  </c:pt>
                  <c:pt idx="20">
                    <c:v>20:00</c:v>
                  </c:pt>
                  <c:pt idx="21">
                    <c:v>21:00</c:v>
                  </c:pt>
                  <c:pt idx="22">
                    <c:v>22:00</c:v>
                  </c:pt>
                  <c:pt idx="23">
                    <c:v>23:00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180</c:v>
                </c:pt>
                <c:pt idx="1">
                  <c:v>180</c:v>
                </c:pt>
                <c:pt idx="2">
                  <c:v>180</c:v>
                </c:pt>
                <c:pt idx="3">
                  <c:v>180</c:v>
                </c:pt>
                <c:pt idx="4">
                  <c:v>180</c:v>
                </c:pt>
                <c:pt idx="5">
                  <c:v>180</c:v>
                </c:pt>
                <c:pt idx="6">
                  <c:v>180</c:v>
                </c:pt>
                <c:pt idx="7">
                  <c:v>180</c:v>
                </c:pt>
                <c:pt idx="8">
                  <c:v>180</c:v>
                </c:pt>
                <c:pt idx="9">
                  <c:v>180</c:v>
                </c:pt>
                <c:pt idx="10">
                  <c:v>180</c:v>
                </c:pt>
                <c:pt idx="11">
                  <c:v>180</c:v>
                </c:pt>
                <c:pt idx="12">
                  <c:v>180</c:v>
                </c:pt>
                <c:pt idx="13">
                  <c:v>180</c:v>
                </c:pt>
                <c:pt idx="14">
                  <c:v>180</c:v>
                </c:pt>
                <c:pt idx="15">
                  <c:v>180</c:v>
                </c:pt>
                <c:pt idx="16">
                  <c:v>180</c:v>
                </c:pt>
                <c:pt idx="17">
                  <c:v>180</c:v>
                </c:pt>
                <c:pt idx="18">
                  <c:v>180</c:v>
                </c:pt>
                <c:pt idx="19">
                  <c:v>180</c:v>
                </c:pt>
                <c:pt idx="20">
                  <c:v>180</c:v>
                </c:pt>
                <c:pt idx="21">
                  <c:v>180</c:v>
                </c:pt>
                <c:pt idx="22">
                  <c:v>180</c:v>
                </c:pt>
                <c:pt idx="23">
                  <c:v>180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70 mg/dL low threshold</c:v>
                </c:pt>
              </c:strCache>
            </c:strRef>
          </c:tx>
          <c:spPr>
            <a:solidFill>
              <a:srgbClr val="6FB3E0"/>
            </a:solidFill>
            <a:ln w="31750" cap="flat">
              <a:solidFill>
                <a:srgbClr val="6FB3E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6FB3E0"/>
              </a:solidFill>
              <a:ln w="9525" cap="flat">
                <a:solidFill>
                  <a:srgbClr val="6FB3E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00:00</c:v>
                  </c:pt>
                  <c:pt idx="1">
                    <c:v>01:00</c:v>
                  </c:pt>
                  <c:pt idx="2">
                    <c:v>02:00</c:v>
                  </c:pt>
                  <c:pt idx="3">
                    <c:v>03:00</c:v>
                  </c:pt>
                  <c:pt idx="4">
                    <c:v>04:00</c:v>
                  </c:pt>
                  <c:pt idx="5">
                    <c:v>05:00</c:v>
                  </c:pt>
                  <c:pt idx="6">
                    <c:v>06:00</c:v>
                  </c:pt>
                  <c:pt idx="7">
                    <c:v>07:00</c:v>
                  </c:pt>
                  <c:pt idx="8">
                    <c:v>08:00</c:v>
                  </c:pt>
                  <c:pt idx="9">
                    <c:v>09:00</c:v>
                  </c:pt>
                  <c:pt idx="10">
                    <c:v>10:00</c:v>
                  </c:pt>
                  <c:pt idx="11">
                    <c:v>11:00</c:v>
                  </c:pt>
                  <c:pt idx="12">
                    <c:v>12:00</c:v>
                  </c:pt>
                  <c:pt idx="13">
                    <c:v>13:00</c:v>
                  </c:pt>
                  <c:pt idx="14">
                    <c:v>14:00</c:v>
                  </c:pt>
                  <c:pt idx="15">
                    <c:v>15:00</c:v>
                  </c:pt>
                  <c:pt idx="16">
                    <c:v>16:00</c:v>
                  </c:pt>
                  <c:pt idx="17">
                    <c:v>17:00</c:v>
                  </c:pt>
                  <c:pt idx="18">
                    <c:v>18:00</c:v>
                  </c:pt>
                  <c:pt idx="19">
                    <c:v>19:00</c:v>
                  </c:pt>
                  <c:pt idx="20">
                    <c:v>20:00</c:v>
                  </c:pt>
                  <c:pt idx="21">
                    <c:v>21:00</c:v>
                  </c:pt>
                  <c:pt idx="22">
                    <c:v>22:00</c:v>
                  </c:pt>
                  <c:pt idx="23">
                    <c:v>23:00</c:v>
                  </c:pt>
                </c:lvl>
              </c:multiLvlStrCache>
            </c:multiLvl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70</c:v>
                </c:pt>
                <c:pt idx="1">
                  <c:v>70</c:v>
                </c:pt>
                <c:pt idx="2">
                  <c:v>70</c:v>
                </c:pt>
                <c:pt idx="3">
                  <c:v>70</c:v>
                </c:pt>
                <c:pt idx="4">
                  <c:v>70</c:v>
                </c:pt>
                <c:pt idx="5">
                  <c:v>70</c:v>
                </c:pt>
                <c:pt idx="6">
                  <c:v>70</c:v>
                </c:pt>
                <c:pt idx="7">
                  <c:v>70</c:v>
                </c:pt>
                <c:pt idx="8">
                  <c:v>70</c:v>
                </c:pt>
                <c:pt idx="9">
                  <c:v>70</c:v>
                </c:pt>
                <c:pt idx="10">
                  <c:v>70</c:v>
                </c:pt>
                <c:pt idx="11">
                  <c:v>70</c:v>
                </c:pt>
                <c:pt idx="12">
                  <c:v>70</c:v>
                </c:pt>
                <c:pt idx="13">
                  <c:v>70</c:v>
                </c:pt>
                <c:pt idx="14">
                  <c:v>70</c:v>
                </c:pt>
                <c:pt idx="15">
                  <c:v>70</c:v>
                </c:pt>
                <c:pt idx="16">
                  <c:v>70</c:v>
                </c:pt>
                <c:pt idx="17">
                  <c:v>70</c:v>
                </c:pt>
                <c:pt idx="18">
                  <c:v>70</c:v>
                </c:pt>
                <c:pt idx="19">
                  <c:v>70</c:v>
                </c:pt>
                <c:pt idx="20">
                  <c:v>70</c:v>
                </c:pt>
                <c:pt idx="21">
                  <c:v>70</c:v>
                </c:pt>
                <c:pt idx="22">
                  <c:v>70</c:v>
                </c:pt>
                <c:pt idx="23">
                  <c:v>70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7A7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60"/>
        </c:scaling>
        <c:delete val="0"/>
        <c:axPos val="l"/>
        <c:majorGridlines>
          <c:spPr>
            <a:ln w="6350" cap="flat">
              <a:solidFill>
                <a:srgbClr val="CFE3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7A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3A33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le-large"/>
          <p:cNvSpPr/>
          <p:nvPr/>
        </p:nvSpPr>
        <p:spPr>
          <a:xfrm>
            <a:off x="7589520" y="914400"/>
            <a:ext cx="4206240" cy="4206240"/>
          </a:xfrm>
          <a:prstGeom prst="ellipse">
            <a:avLst/>
          </a:prstGeom>
          <a:solidFill>
            <a:srgbClr val="DDEFE6"/>
          </a:solidFill>
          <a:ln w="12700">
            <a:solidFill>
              <a:srgbClr val="DDEFE6"/>
            </a:solidFill>
            <a:prstDash val="solid"/>
          </a:ln>
        </p:spPr>
      </p:sp>
      <p:sp>
        <p:nvSpPr>
          <p:cNvPr id="3" name="circle-sky"/>
          <p:cNvSpPr/>
          <p:nvPr/>
        </p:nvSpPr>
        <p:spPr>
          <a:xfrm>
            <a:off x="7040880" y="3566160"/>
            <a:ext cx="2103120" cy="2103120"/>
          </a:xfrm>
          <a:prstGeom prst="ellipse">
            <a:avLst/>
          </a:prstGeom>
          <a:solidFill>
            <a:srgbClr val="E4F1FA"/>
          </a:solidFill>
          <a:ln w="12700">
            <a:solidFill>
              <a:srgbClr val="E4F1FA"/>
            </a:solidFill>
            <a:prstDash val="solid"/>
          </a:ln>
        </p:spPr>
      </p:sp>
      <p:sp>
        <p:nvSpPr>
          <p:cNvPr id="4" name="circle-peach"/>
          <p:cNvSpPr/>
          <p:nvPr/>
        </p:nvSpPr>
        <p:spPr>
          <a:xfrm>
            <a:off x="10332720" y="4389120"/>
            <a:ext cx="1188720" cy="1188720"/>
          </a:xfrm>
          <a:prstGeom prst="ellipse">
            <a:avLst/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0" y="201168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3FA7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h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7863840" y="32004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warning window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55448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T2D Digital Twin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74320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high and low glucose events 2 hours ahead by fusing EHR and wearable data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2976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 Japji Kaur Dardi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6634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Thapar Institute of Engineering and Technology, Patiala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Happiest Health Reimagining and Reforming Healthcare in India Summit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Diabetes care in India is still reactive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 Japji Kaur Dardi  |  Thapar Institute of Engineering and Technology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stat-101 M"/>
          <p:cNvSpPr/>
          <p:nvPr/>
        </p:nvSpPr>
        <p:spPr>
          <a:xfrm>
            <a:off x="548640" y="1645920"/>
            <a:ext cx="3474720" cy="1828800"/>
          </a:xfrm>
          <a:prstGeom prst="roundRect">
            <a:avLst>
              <a:gd name="adj" fmla="val 7500"/>
            </a:avLst>
          </a:prstGeom>
          <a:solidFill>
            <a:srgbClr val="EEF7F2"/>
          </a:solidFill>
          <a:ln w="12700">
            <a:solidFill>
              <a:srgbClr val="EEF7F2"/>
            </a:solidFill>
            <a:prstDash val="solid"/>
          </a:ln>
          <a:effectLst>
            <a:outerShdw sx="100000" sy="100000" kx="0" ky="0" algn="bl" rotWithShape="0" blurRad="101600" dist="25400" dir="5400000">
              <a:srgbClr val="8FB5A6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18745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FA7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101 M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97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living with diabetes in India (ICMR-INDIAB, 2023)</a:t>
            </a:r>
            <a:endParaRPr lang="en-US" sz="1500" dirty="0"/>
          </a:p>
        </p:txBody>
      </p:sp>
      <p:sp>
        <p:nvSpPr>
          <p:cNvPr id="8" name="stat-Blind spots"/>
          <p:cNvSpPr/>
          <p:nvPr/>
        </p:nvSpPr>
        <p:spPr>
          <a:xfrm>
            <a:off x="4361688" y="1645920"/>
            <a:ext cx="3474720" cy="1828800"/>
          </a:xfrm>
          <a:prstGeom prst="roundRect">
            <a:avLst>
              <a:gd name="adj" fmla="val 7500"/>
            </a:avLst>
          </a:prstGeom>
          <a:solidFill>
            <a:srgbClr val="E4F1FA"/>
          </a:solidFill>
          <a:ln w="12700">
            <a:solidFill>
              <a:srgbClr val="E4F1FA"/>
            </a:solidFill>
            <a:prstDash val="solid"/>
          </a:ln>
          <a:effectLst>
            <a:outerShdw sx="100000" sy="100000" kx="0" ky="0" algn="bl" rotWithShape="0" blurRad="101600" dist="25400" dir="5400000">
              <a:srgbClr val="8FB5A6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636008" y="18745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FB3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Blind spots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4636008" y="2697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glucose spikes between clinic visits go unseen</a:t>
            </a:r>
            <a:endParaRPr lang="en-US" sz="1500" dirty="0"/>
          </a:p>
        </p:txBody>
      </p:sp>
      <p:sp>
        <p:nvSpPr>
          <p:cNvPr id="11" name="stat-2 h"/>
          <p:cNvSpPr/>
          <p:nvPr/>
        </p:nvSpPr>
        <p:spPr>
          <a:xfrm>
            <a:off x="8165592" y="1645920"/>
            <a:ext cx="3474720" cy="1828800"/>
          </a:xfrm>
          <a:prstGeom prst="roundRect">
            <a:avLst>
              <a:gd name="adj" fmla="val 7500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  <a:effectLst>
            <a:outerShdw sx="100000" sy="100000" kx="0" ky="0" algn="bl" rotWithShape="0" blurRad="101600" dist="25400" dir="5400000">
              <a:srgbClr val="8FB5A6">
                <a:alpha val="2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439912" y="18745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97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h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8439912" y="2697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ahead: the warning window this twin aims for</a:t>
            </a:r>
            <a:endParaRPr lang="en-US" sz="1500" dirty="0"/>
          </a:p>
        </p:txBody>
      </p:sp>
      <p:sp>
        <p:nvSpPr>
          <p:cNvPr id="14" name="goal-card"/>
          <p:cNvSpPr/>
          <p:nvPr/>
        </p:nvSpPr>
        <p:spPr>
          <a:xfrm>
            <a:off x="548640" y="3931920"/>
            <a:ext cx="11091672" cy="2011680"/>
          </a:xfrm>
          <a:prstGeom prst="roundRect">
            <a:avLst>
              <a:gd name="adj" fmla="val 6818"/>
            </a:avLst>
          </a:prstGeom>
          <a:solidFill>
            <a:srgbClr val="EEF7F2"/>
          </a:solidFill>
          <a:ln w="12700">
            <a:solidFill>
              <a:srgbClr val="EEF7F2"/>
            </a:solidFill>
            <a:prstDash val="solid"/>
          </a:ln>
          <a:effectLst>
            <a:outerShdw sx="100000" sy="100000" kx="0" ky="0" algn="bl" rotWithShape="0" blurRad="101600" dist="25400" dir="5400000">
              <a:srgbClr val="8FB5A6">
                <a:alpha val="2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14400" y="4160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FA7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Goal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61772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virtual replica of the patient that predicts adverse glycaemic events before they happen, and lets the doctor test lifestyle changes virtually.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digital twin fuses two data streams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 Japji Kaur Dardi  |  Thapar Institute of Engineering and Technology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card-static"/>
          <p:cNvSpPr/>
          <p:nvPr/>
        </p:nvSpPr>
        <p:spPr>
          <a:xfrm>
            <a:off x="548640" y="1554480"/>
            <a:ext cx="4023360" cy="3383280"/>
          </a:xfrm>
          <a:prstGeom prst="roundRect">
            <a:avLst>
              <a:gd name="adj" fmla="val 4054"/>
            </a:avLst>
          </a:prstGeom>
          <a:solidFill>
            <a:srgbClr val="EEF7F2"/>
          </a:solidFill>
          <a:ln w="12700">
            <a:solidFill>
              <a:srgbClr val="EEF7F2"/>
            </a:solidFill>
            <a:prstDash val="solid"/>
          </a:ln>
          <a:effectLst>
            <a:outerShdw sx="100000" sy="100000" kx="0" ky="0" algn="bl" rotWithShape="0" blurRad="101600" dist="25400" dir="5400000">
              <a:srgbClr val="8FB5A6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1783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FA7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Static: EHR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Age, sex, BMI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HbA1c, fasting glucose, eGFR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 duration, medication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Genetic marker (TCF7L2)</a:t>
            </a:r>
            <a:endParaRPr lang="en-US" sz="1800" dirty="0"/>
          </a:p>
        </p:txBody>
      </p:sp>
      <p:sp>
        <p:nvSpPr>
          <p:cNvPr id="8" name="card-dynamic"/>
          <p:cNvSpPr/>
          <p:nvPr/>
        </p:nvSpPr>
        <p:spPr>
          <a:xfrm>
            <a:off x="7616952" y="1554480"/>
            <a:ext cx="4023360" cy="3383280"/>
          </a:xfrm>
          <a:prstGeom prst="roundRect">
            <a:avLst>
              <a:gd name="adj" fmla="val 4054"/>
            </a:avLst>
          </a:prstGeom>
          <a:solidFill>
            <a:srgbClr val="E4F1FA"/>
          </a:solidFill>
          <a:ln w="12700">
            <a:solidFill>
              <a:srgbClr val="E4F1FA"/>
            </a:solidFill>
            <a:prstDash val="solid"/>
          </a:ln>
          <a:effectLst>
            <a:outerShdw sx="100000" sy="100000" kx="0" ky="0" algn="bl" rotWithShape="0" blurRad="101600" dist="25400" dir="5400000">
              <a:srgbClr val="8FB5A6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891272" y="1783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C8F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Dynamic: wearable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891272" y="2377440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Glucose (CGM), every 15 min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rate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 sleep hours</a:t>
            </a:r>
            <a:endParaRPr lang="en-US" sz="1800" dirty="0"/>
          </a:p>
        </p:txBody>
      </p:sp>
      <p:sp>
        <p:nvSpPr>
          <p:cNvPr id="11" name="arrow-left"/>
          <p:cNvSpPr/>
          <p:nvPr/>
        </p:nvSpPr>
        <p:spPr>
          <a:xfrm>
            <a:off x="4617720" y="3063240"/>
            <a:ext cx="274320" cy="365760"/>
          </a:xfrm>
          <a:prstGeom prst="rightArrow">
            <a:avLst/>
          </a:prstGeom>
          <a:solidFill>
            <a:srgbClr val="3FA796"/>
          </a:solidFill>
          <a:ln w="12700">
            <a:solidFill>
              <a:srgbClr val="3FA796"/>
            </a:solidFill>
            <a:prstDash val="solid"/>
          </a:ln>
        </p:spPr>
      </p:sp>
      <p:sp>
        <p:nvSpPr>
          <p:cNvPr id="12" name="arrow-right"/>
          <p:cNvSpPr/>
          <p:nvPr/>
        </p:nvSpPr>
        <p:spPr>
          <a:xfrm>
            <a:off x="7296912" y="3063240"/>
            <a:ext cx="274320" cy="365760"/>
          </a:xfrm>
          <a:prstGeom prst="rightArrow">
            <a:avLst/>
          </a:prstGeom>
          <a:solidFill>
            <a:srgbClr val="3FA796"/>
          </a:solidFill>
          <a:ln w="12700">
            <a:solidFill>
              <a:srgbClr val="3FA796"/>
            </a:solidFill>
            <a:prstDash val="solid"/>
          </a:ln>
        </p:spPr>
      </p:sp>
      <p:sp>
        <p:nvSpPr>
          <p:cNvPr id="13" name="twin-circle"/>
          <p:cNvSpPr/>
          <p:nvPr/>
        </p:nvSpPr>
        <p:spPr>
          <a:xfrm>
            <a:off x="4937760" y="2093976"/>
            <a:ext cx="2313432" cy="2313432"/>
          </a:xfrm>
          <a:prstGeom prst="ellipse">
            <a:avLst/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  <a:effectLst>
            <a:outerShdw sx="100000" sy="100000" kx="0" ky="0" algn="bl" rotWithShape="0" blurRad="101600" dist="25400" dir="5400000">
              <a:srgbClr val="8FB5A6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937760" y="2606040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Twin model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5074920" y="3108960"/>
            <a:ext cx="20391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2-hour risk and what-if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C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condition: Type 2 Diabetes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Privacy-safe synthetic data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 Japji Kaur Dardi  |  Thapar Institute of Engineering and Technology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tat-300"/>
          <p:cNvSpPr/>
          <p:nvPr/>
        </p:nvSpPr>
        <p:spPr>
          <a:xfrm>
            <a:off x="548640" y="1645920"/>
            <a:ext cx="3474720" cy="1828800"/>
          </a:xfrm>
          <a:prstGeom prst="roundRect">
            <a:avLst>
              <a:gd name="adj" fmla="val 7500"/>
            </a:avLst>
          </a:prstGeom>
          <a:solidFill>
            <a:srgbClr val="EEF7F2"/>
          </a:solidFill>
          <a:ln w="12700">
            <a:solidFill>
              <a:srgbClr val="EEF7F2"/>
            </a:solidFill>
            <a:prstDash val="solid"/>
          </a:ln>
          <a:effectLst>
            <a:outerShdw sx="100000" sy="100000" kx="0" ky="0" algn="bl" rotWithShape="0" blurRad="101600" dist="25400" dir="5400000">
              <a:srgbClr val="8FB5A6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18745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FA7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300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97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patients</a:t>
            </a:r>
            <a:endParaRPr lang="en-US" sz="1500" dirty="0"/>
          </a:p>
        </p:txBody>
      </p:sp>
      <p:sp>
        <p:nvSpPr>
          <p:cNvPr id="8" name="stat-14 days"/>
          <p:cNvSpPr/>
          <p:nvPr/>
        </p:nvSpPr>
        <p:spPr>
          <a:xfrm>
            <a:off x="4361688" y="1645920"/>
            <a:ext cx="3474720" cy="1828800"/>
          </a:xfrm>
          <a:prstGeom prst="roundRect">
            <a:avLst>
              <a:gd name="adj" fmla="val 7500"/>
            </a:avLst>
          </a:prstGeom>
          <a:solidFill>
            <a:srgbClr val="E4F1FA"/>
          </a:solidFill>
          <a:ln w="12700">
            <a:solidFill>
              <a:srgbClr val="E4F1FA"/>
            </a:solidFill>
            <a:prstDash val="solid"/>
          </a:ln>
          <a:effectLst>
            <a:outerShdw sx="100000" sy="100000" kx="0" ky="0" algn="bl" rotWithShape="0" blurRad="101600" dist="25400" dir="5400000">
              <a:srgbClr val="8FB5A6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636008" y="18745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FB3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days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4636008" y="2697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monitoring each</a:t>
            </a:r>
            <a:endParaRPr lang="en-US" sz="1500" dirty="0"/>
          </a:p>
        </p:txBody>
      </p:sp>
      <p:sp>
        <p:nvSpPr>
          <p:cNvPr id="11" name="stat-15 min"/>
          <p:cNvSpPr/>
          <p:nvPr/>
        </p:nvSpPr>
        <p:spPr>
          <a:xfrm>
            <a:off x="8165592" y="1645920"/>
            <a:ext cx="3474720" cy="1828800"/>
          </a:xfrm>
          <a:prstGeom prst="roundRect">
            <a:avLst>
              <a:gd name="adj" fmla="val 7500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  <a:effectLst>
            <a:outerShdw sx="100000" sy="100000" kx="0" ky="0" algn="bl" rotWithShape="0" blurRad="101600" dist="25400" dir="5400000">
              <a:srgbClr val="8FB5A6">
                <a:alpha val="2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439912" y="18745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97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min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8439912" y="2697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resolution</a:t>
            </a:r>
            <a:endParaRPr lang="en-US" sz="1500" dirty="0"/>
          </a:p>
        </p:txBody>
      </p:sp>
      <p:sp>
        <p:nvSpPr>
          <p:cNvPr id="14" name="sim-card"/>
          <p:cNvSpPr/>
          <p:nvPr/>
        </p:nvSpPr>
        <p:spPr>
          <a:xfrm>
            <a:off x="548640" y="3749040"/>
            <a:ext cx="11091672" cy="2286000"/>
          </a:xfrm>
          <a:prstGeom prst="roundRect">
            <a:avLst>
              <a:gd name="adj" fmla="val 6000"/>
            </a:avLst>
          </a:prstGeom>
          <a:solidFill>
            <a:srgbClr val="EEF7F2"/>
          </a:solidFill>
          <a:ln w="12700">
            <a:solidFill>
              <a:srgbClr val="EEF7F2"/>
            </a:solidFill>
            <a:prstDash val="solid"/>
          </a:ln>
          <a:effectLst>
            <a:outerShdw sx="100000" sy="100000" kx="0" ky="0" algn="bl" rotWithShape="0" blurRad="101600" dist="25400" dir="5400000">
              <a:srgbClr val="8FB5A6">
                <a:alpha val="2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14400" y="39319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FA7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simulator works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43484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Meal-driven glucose spikes from Indian-diet carbohydrate loads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Scaled by insulin resistance from BMI, HbA1c, TCF7L2 alleles and metformin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 lowers spikes; short sleep raises them; drug dose + skipped meals cause lows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 patient data used, so no personal-data exposure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 Japji Kaur Dardi  |  Thapar Institute of Engineering and Technology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arch-ehr"/>
          <p:cNvSpPr/>
          <p:nvPr/>
        </p:nvSpPr>
        <p:spPr>
          <a:xfrm>
            <a:off x="548640" y="1554480"/>
            <a:ext cx="2377440" cy="1554480"/>
          </a:xfrm>
          <a:prstGeom prst="roundRect">
            <a:avLst>
              <a:gd name="adj" fmla="val 8824"/>
            </a:avLst>
          </a:prstGeom>
          <a:solidFill>
            <a:srgbClr val="EEF7F2"/>
          </a:solidFill>
          <a:ln w="12700">
            <a:solidFill>
              <a:srgbClr val="EEF7F2"/>
            </a:solidFill>
            <a:prstDash val="solid"/>
          </a:ln>
          <a:effectLst>
            <a:outerShdw sx="100000" sy="100000" kx="0" ky="0" algn="bl" rotWithShape="0" blurRad="101600" dist="25400" dir="5400000">
              <a:srgbClr val="8FB5A6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16916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Static EHR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14884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age, BMI, HbA1c, eGFR, genetics</a:t>
            </a:r>
            <a:endParaRPr lang="en-US" sz="1400" dirty="0"/>
          </a:p>
        </p:txBody>
      </p:sp>
      <p:sp>
        <p:nvSpPr>
          <p:cNvPr id="8" name="arch-wear"/>
          <p:cNvSpPr/>
          <p:nvPr/>
        </p:nvSpPr>
        <p:spPr>
          <a:xfrm>
            <a:off x="548640" y="3383280"/>
            <a:ext cx="2377440" cy="1554480"/>
          </a:xfrm>
          <a:prstGeom prst="roundRect">
            <a:avLst>
              <a:gd name="adj" fmla="val 8824"/>
            </a:avLst>
          </a:prstGeom>
          <a:solidFill>
            <a:srgbClr val="E4F1FA"/>
          </a:solidFill>
          <a:ln w="12700">
            <a:solidFill>
              <a:srgbClr val="E4F1FA"/>
            </a:solidFill>
            <a:prstDash val="solid"/>
          </a:ln>
          <a:effectLst>
            <a:outerShdw sx="100000" sy="100000" kx="0" ky="0" algn="bl" rotWithShape="0" blurRad="101600" dist="25400" dir="5400000">
              <a:srgbClr val="8FB5A6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85800" y="35204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Wearable stream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97764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glucose, heart rate, steps, sleep</a:t>
            </a:r>
            <a:endParaRPr lang="en-US" sz="1400" dirty="0"/>
          </a:p>
        </p:txBody>
      </p:sp>
      <p:sp>
        <p:nvSpPr>
          <p:cNvPr id="11" name="flow-arrow"/>
          <p:cNvSpPr/>
          <p:nvPr/>
        </p:nvSpPr>
        <p:spPr>
          <a:xfrm>
            <a:off x="3035808" y="2148840"/>
            <a:ext cx="320040" cy="365760"/>
          </a:xfrm>
          <a:prstGeom prst="rightArrow">
            <a:avLst/>
          </a:prstGeom>
          <a:solidFill>
            <a:srgbClr val="3FA796"/>
          </a:solidFill>
          <a:ln w="12700">
            <a:solidFill>
              <a:srgbClr val="3FA796"/>
            </a:solidFill>
            <a:prstDash val="solid"/>
          </a:ln>
        </p:spPr>
      </p:sp>
      <p:sp>
        <p:nvSpPr>
          <p:cNvPr id="12" name="flow-arrow"/>
          <p:cNvSpPr/>
          <p:nvPr/>
        </p:nvSpPr>
        <p:spPr>
          <a:xfrm>
            <a:off x="3035808" y="3977640"/>
            <a:ext cx="320040" cy="365760"/>
          </a:xfrm>
          <a:prstGeom prst="rightArrow">
            <a:avLst/>
          </a:prstGeom>
          <a:solidFill>
            <a:srgbClr val="3FA796"/>
          </a:solidFill>
          <a:ln w="12700">
            <a:solidFill>
              <a:srgbClr val="3FA796"/>
            </a:solidFill>
            <a:prstDash val="solid"/>
          </a:ln>
        </p:spPr>
      </p:sp>
      <p:sp>
        <p:nvSpPr>
          <p:cNvPr id="13" name="arch-fusion"/>
          <p:cNvSpPr/>
          <p:nvPr/>
        </p:nvSpPr>
        <p:spPr>
          <a:xfrm>
            <a:off x="3474720" y="2377440"/>
            <a:ext cx="2377440" cy="1737360"/>
          </a:xfrm>
          <a:prstGeom prst="roundRect">
            <a:avLst>
              <a:gd name="adj" fmla="val 7895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  <a:effectLst>
            <a:outerShdw sx="100000" sy="100000" kx="0" ky="0" algn="bl" rotWithShape="0" blurRad="101600" dist="25400" dir="5400000">
              <a:srgbClr val="8FB5A6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3611880" y="2514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fusion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297180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 CGM window, steps, HR, sleep, time of day, EHR vector</a:t>
            </a:r>
            <a:endParaRPr lang="en-US" sz="1400" dirty="0"/>
          </a:p>
        </p:txBody>
      </p:sp>
      <p:sp>
        <p:nvSpPr>
          <p:cNvPr id="16" name="flow-arrow"/>
          <p:cNvSpPr/>
          <p:nvPr/>
        </p:nvSpPr>
        <p:spPr>
          <a:xfrm>
            <a:off x="5961888" y="3063240"/>
            <a:ext cx="320040" cy="365760"/>
          </a:xfrm>
          <a:prstGeom prst="rightArrow">
            <a:avLst/>
          </a:prstGeom>
          <a:solidFill>
            <a:srgbClr val="3FA796"/>
          </a:solidFill>
          <a:ln w="12700">
            <a:solidFill>
              <a:srgbClr val="3FA796"/>
            </a:solidFill>
            <a:prstDash val="solid"/>
          </a:ln>
        </p:spPr>
      </p:sp>
      <p:sp>
        <p:nvSpPr>
          <p:cNvPr id="17" name="arch-model"/>
          <p:cNvSpPr/>
          <p:nvPr/>
        </p:nvSpPr>
        <p:spPr>
          <a:xfrm>
            <a:off x="6400800" y="2377440"/>
            <a:ext cx="2377440" cy="1737360"/>
          </a:xfrm>
          <a:prstGeom prst="roundRect">
            <a:avLst>
              <a:gd name="adj" fmla="val 7895"/>
            </a:avLst>
          </a:prstGeom>
          <a:solidFill>
            <a:srgbClr val="DDEFE6"/>
          </a:solidFill>
          <a:ln w="12700">
            <a:solidFill>
              <a:srgbClr val="DDEFE6"/>
            </a:solidFill>
            <a:prstDash val="solid"/>
          </a:ln>
          <a:effectLst>
            <a:outerShdw sx="100000" sy="100000" kx="0" ky="0" algn="bl" rotWithShape="0" blurRad="101600" dist="25400" dir="5400000">
              <a:srgbClr val="8FB5A6">
                <a:alpha val="2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537960" y="2514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Twin model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537960" y="297180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models: P(glucose &gt; 180) and P(glucose &lt; 70) in 2 h</a:t>
            </a:r>
            <a:endParaRPr lang="en-US" sz="1400" dirty="0"/>
          </a:p>
        </p:txBody>
      </p:sp>
      <p:sp>
        <p:nvSpPr>
          <p:cNvPr id="20" name="flow-arrow"/>
          <p:cNvSpPr/>
          <p:nvPr/>
        </p:nvSpPr>
        <p:spPr>
          <a:xfrm>
            <a:off x="8887968" y="3063240"/>
            <a:ext cx="320040" cy="365760"/>
          </a:xfrm>
          <a:prstGeom prst="rightArrow">
            <a:avLst/>
          </a:prstGeom>
          <a:solidFill>
            <a:srgbClr val="3FA796"/>
          </a:solidFill>
          <a:ln w="12700">
            <a:solidFill>
              <a:srgbClr val="3FA796"/>
            </a:solidFill>
            <a:prstDash val="solid"/>
          </a:ln>
        </p:spPr>
      </p:sp>
      <p:sp>
        <p:nvSpPr>
          <p:cNvPr id="21" name="arch-dash"/>
          <p:cNvSpPr/>
          <p:nvPr/>
        </p:nvSpPr>
        <p:spPr>
          <a:xfrm>
            <a:off x="9326880" y="1554480"/>
            <a:ext cx="2313432" cy="1554480"/>
          </a:xfrm>
          <a:prstGeom prst="roundRect">
            <a:avLst>
              <a:gd name="adj" fmla="val 8824"/>
            </a:avLst>
          </a:prstGeom>
          <a:solidFill>
            <a:srgbClr val="E4F1FA"/>
          </a:solidFill>
          <a:ln w="12700">
            <a:solidFill>
              <a:srgbClr val="E4F1FA"/>
            </a:solidFill>
            <a:prstDash val="solid"/>
          </a:ln>
          <a:effectLst>
            <a:outerShdw sx="100000" sy="100000" kx="0" ky="0" algn="bl" rotWithShape="0" blurRad="101600" dist="25400" dir="5400000">
              <a:srgbClr val="8FB5A6">
                <a:alpha val="2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464040" y="1691640"/>
            <a:ext cx="2039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9464040" y="2148840"/>
            <a:ext cx="2039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 card, glucose trace, high + low alerts, SHAP</a:t>
            </a:r>
            <a:endParaRPr lang="en-US" sz="1400" dirty="0"/>
          </a:p>
        </p:txBody>
      </p:sp>
      <p:sp>
        <p:nvSpPr>
          <p:cNvPr id="24" name="arch-whatif"/>
          <p:cNvSpPr/>
          <p:nvPr/>
        </p:nvSpPr>
        <p:spPr>
          <a:xfrm>
            <a:off x="9326880" y="3383280"/>
            <a:ext cx="2313432" cy="1554480"/>
          </a:xfrm>
          <a:prstGeom prst="roundRect">
            <a:avLst>
              <a:gd name="adj" fmla="val 8824"/>
            </a:avLst>
          </a:prstGeom>
          <a:solidFill>
            <a:srgbClr val="EEF7F2"/>
          </a:solidFill>
          <a:ln w="12700">
            <a:solidFill>
              <a:srgbClr val="EEF7F2"/>
            </a:solidFill>
            <a:prstDash val="solid"/>
          </a:ln>
          <a:effectLst>
            <a:outerShdw sx="100000" sy="100000" kx="0" ky="0" algn="bl" rotWithShape="0" blurRad="101600" dist="25400" dir="5400000">
              <a:srgbClr val="8FB5A6">
                <a:alpha val="2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464040" y="3520440"/>
            <a:ext cx="2039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What-if engine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9464040" y="3977640"/>
            <a:ext cx="2039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and sleep change the risk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C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Evaluation: ablation of CGM only vs + wearable vs + EHR, with ROC-AUC, PR-AUC and SHAP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twin learns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 Japji Kaur Dardi  |  Thapar Institute of Engineering and Technology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tat-8"/>
          <p:cNvSpPr/>
          <p:nvPr/>
        </p:nvSpPr>
        <p:spPr>
          <a:xfrm>
            <a:off x="548640" y="1645920"/>
            <a:ext cx="3474720" cy="1828800"/>
          </a:xfrm>
          <a:prstGeom prst="roundRect">
            <a:avLst>
              <a:gd name="adj" fmla="val 7500"/>
            </a:avLst>
          </a:prstGeom>
          <a:solidFill>
            <a:srgbClr val="EEF7F2"/>
          </a:solidFill>
          <a:ln w="12700">
            <a:solidFill>
              <a:srgbClr val="EEF7F2"/>
            </a:solidFill>
            <a:prstDash val="solid"/>
          </a:ln>
          <a:effectLst>
            <a:outerShdw sx="100000" sy="100000" kx="0" ky="0" algn="bl" rotWithShape="0" blurRad="101600" dist="25400" dir="5400000">
              <a:srgbClr val="8FB5A6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18745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FA7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97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CGM window features: level, spread, trend over 2 h</a:t>
            </a:r>
            <a:endParaRPr lang="en-US" sz="1500" dirty="0"/>
          </a:p>
        </p:txBody>
      </p:sp>
      <p:sp>
        <p:nvSpPr>
          <p:cNvPr id="8" name="stat-7"/>
          <p:cNvSpPr/>
          <p:nvPr/>
        </p:nvSpPr>
        <p:spPr>
          <a:xfrm>
            <a:off x="4361688" y="1645920"/>
            <a:ext cx="3474720" cy="1828800"/>
          </a:xfrm>
          <a:prstGeom prst="roundRect">
            <a:avLst>
              <a:gd name="adj" fmla="val 7500"/>
            </a:avLst>
          </a:prstGeom>
          <a:solidFill>
            <a:srgbClr val="E4F1FA"/>
          </a:solidFill>
          <a:ln w="12700">
            <a:solidFill>
              <a:srgbClr val="E4F1FA"/>
            </a:solidFill>
            <a:prstDash val="solid"/>
          </a:ln>
          <a:effectLst>
            <a:outerShdw sx="100000" sy="100000" kx="0" ky="0" algn="bl" rotWithShape="0" blurRad="101600" dist="25400" dir="5400000">
              <a:srgbClr val="8FB5A6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636008" y="18745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FB3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4636008" y="2697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wearable and time features: steps, heart rate, sleep, hour</a:t>
            </a:r>
            <a:endParaRPr lang="en-US" sz="1500" dirty="0"/>
          </a:p>
        </p:txBody>
      </p:sp>
      <p:sp>
        <p:nvSpPr>
          <p:cNvPr id="11" name="stat-12"/>
          <p:cNvSpPr/>
          <p:nvPr/>
        </p:nvSpPr>
        <p:spPr>
          <a:xfrm>
            <a:off x="8165592" y="1645920"/>
            <a:ext cx="3474720" cy="1828800"/>
          </a:xfrm>
          <a:prstGeom prst="roundRect">
            <a:avLst>
              <a:gd name="adj" fmla="val 7500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  <a:effectLst>
            <a:outerShdw sx="100000" sy="100000" kx="0" ky="0" algn="bl" rotWithShape="0" blurRad="101600" dist="25400" dir="5400000">
              <a:srgbClr val="8FB5A6">
                <a:alpha val="2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439912" y="18745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97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8439912" y="2697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 features: demographics, labs, genetics, medication</a:t>
            </a:r>
            <a:endParaRPr lang="en-US" sz="1500" dirty="0"/>
          </a:p>
        </p:txBody>
      </p:sp>
      <p:sp>
        <p:nvSpPr>
          <p:cNvPr id="14" name="model-card"/>
          <p:cNvSpPr/>
          <p:nvPr/>
        </p:nvSpPr>
        <p:spPr>
          <a:xfrm>
            <a:off x="548640" y="3931920"/>
            <a:ext cx="11091672" cy="2011680"/>
          </a:xfrm>
          <a:prstGeom prst="roundRect">
            <a:avLst>
              <a:gd name="adj" fmla="val 6818"/>
            </a:avLst>
          </a:prstGeom>
          <a:solidFill>
            <a:srgbClr val="EEF7F2"/>
          </a:solidFill>
          <a:ln w="12700">
            <a:solidFill>
              <a:srgbClr val="EEF7F2"/>
            </a:solidFill>
            <a:prstDash val="solid"/>
          </a:ln>
          <a:effectLst>
            <a:outerShdw sx="100000" sy="100000" kx="0" ky="0" algn="bl" rotWithShape="0" blurRad="101600" dist="25400" dir="5400000">
              <a:srgbClr val="8FB5A6">
                <a:alpha val="2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14400" y="41148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FA7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and training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61772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gradient boosting models: will glucose go above 180 mg/dL, or below 70 mg/dL, within the next 2 hours? Trained on 75% of patients, tested on unseen 25% (no leakage).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Fusing both streams wins, for highs and lows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 Japji Kaur Dardi  |  Thapar Institute of Engineering and Technology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chart-card"/>
          <p:cNvSpPr/>
          <p:nvPr/>
        </p:nvSpPr>
        <p:spPr>
          <a:xfrm>
            <a:off x="548640" y="1463040"/>
            <a:ext cx="6949440" cy="4480560"/>
          </a:xfrm>
          <a:prstGeom prst="roundRect">
            <a:avLst>
              <a:gd name="adj" fmla="val 3061"/>
            </a:avLst>
          </a:prstGeom>
          <a:solidFill>
            <a:srgbClr val="EEF7F2"/>
          </a:solidFill>
          <a:ln w="12700">
            <a:solidFill>
              <a:srgbClr val="EEF7F2"/>
            </a:solidFill>
            <a:prstDash val="solid"/>
          </a:ln>
          <a:effectLst>
            <a:outerShdw sx="100000" sy="100000" kx="0" ky="0" algn="bl" rotWithShape="0" blurRad="101600" dist="25400" dir="5400000">
              <a:srgbClr val="8FB5A6">
                <a:alpha val="25000"/>
              </a:srgbClr>
            </a:outerShdw>
          </a:effectLst>
        </p:spPr>
      </p:sp>
      <p:graphicFrame>
        <p:nvGraphicFramePr>
          <p:cNvPr id="6" name="Chart 0" descr=""/>
          <p:cNvGraphicFramePr/>
          <p:nvPr/>
        </p:nvGraphicFramePr>
        <p:xfrm>
          <a:off x="731520" y="1645920"/>
          <a:ext cx="65836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tat-0.947"/>
          <p:cNvSpPr/>
          <p:nvPr/>
        </p:nvSpPr>
        <p:spPr>
          <a:xfrm>
            <a:off x="7863840" y="1463040"/>
            <a:ext cx="3776472" cy="1828800"/>
          </a:xfrm>
          <a:prstGeom prst="roundRect">
            <a:avLst>
              <a:gd name="adj" fmla="val 7500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  <a:effectLst>
            <a:outerShdw sx="100000" sy="100000" kx="0" ky="0" algn="bl" rotWithShape="0" blurRad="101600" dist="25400" dir="5400000">
              <a:srgbClr val="8FB5A6">
                <a:alpha val="2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138160" y="1691640"/>
            <a:ext cx="3227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97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0.947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2514600"/>
            <a:ext cx="3227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ROC-AUC, high-glucose twin</a:t>
            </a:r>
            <a:endParaRPr lang="en-US" sz="1500" dirty="0"/>
          </a:p>
        </p:txBody>
      </p:sp>
      <p:sp>
        <p:nvSpPr>
          <p:cNvPr id="10" name="stat-0.981"/>
          <p:cNvSpPr/>
          <p:nvPr/>
        </p:nvSpPr>
        <p:spPr>
          <a:xfrm>
            <a:off x="7863840" y="3520440"/>
            <a:ext cx="3776472" cy="1828800"/>
          </a:xfrm>
          <a:prstGeom prst="roundRect">
            <a:avLst>
              <a:gd name="adj" fmla="val 7500"/>
            </a:avLst>
          </a:prstGeom>
          <a:solidFill>
            <a:srgbClr val="E4F1FA"/>
          </a:solidFill>
          <a:ln w="12700">
            <a:solidFill>
              <a:srgbClr val="E4F1FA"/>
            </a:solidFill>
            <a:prstDash val="solid"/>
          </a:ln>
          <a:effectLst>
            <a:outerShdw sx="100000" sy="100000" kx="0" ky="0" algn="bl" rotWithShape="0" blurRad="101600" dist="25400" dir="5400000">
              <a:srgbClr val="8FB5A6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138160" y="3749040"/>
            <a:ext cx="3227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C8F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0.981</a:t>
            </a:r>
            <a:endParaRPr lang="en-US" sz="4400" dirty="0"/>
          </a:p>
        </p:txBody>
      </p:sp>
      <p:sp>
        <p:nvSpPr>
          <p:cNvPr id="12" name="Text 9"/>
          <p:cNvSpPr txBox="1"/>
          <p:nvPr/>
        </p:nvSpPr>
        <p:spPr>
          <a:xfrm>
            <a:off x="8138160" y="4572000"/>
            <a:ext cx="3227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ROC-AUC, low-glucose twin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0" y="5440680"/>
            <a:ext cx="3776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C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Lows are rare (2%): PR-AUC 0.61 vs 0.02 by chance. Synthetic data: an upper bound, not clinical evidence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did it alert? SHAP explanations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 Japji Kaur Dardi  |  Thapar Institute of Engineering and Technology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-card"/>
          <p:cNvSpPr/>
          <p:nvPr/>
        </p:nvSpPr>
        <p:spPr>
          <a:xfrm>
            <a:off x="548640" y="1463040"/>
            <a:ext cx="7223760" cy="4480560"/>
          </a:xfrm>
          <a:prstGeom prst="roundRect">
            <a:avLst>
              <a:gd name="adj" fmla="val 3061"/>
            </a:avLst>
          </a:prstGeom>
          <a:solidFill>
            <a:srgbClr val="EEF7F2"/>
          </a:solidFill>
          <a:ln w="12700">
            <a:solidFill>
              <a:srgbClr val="EEF7F2"/>
            </a:solidFill>
            <a:prstDash val="solid"/>
          </a:ln>
          <a:effectLst>
            <a:outerShdw sx="100000" sy="100000" kx="0" ky="0" algn="bl" rotWithShape="0" blurRad="101600" dist="25400" dir="5400000">
              <a:srgbClr val="8FB5A6">
                <a:alpha val="25000"/>
              </a:srgbClr>
            </a:outerShdw>
          </a:effectLst>
        </p:spPr>
      </p:sp>
      <p:pic>
        <p:nvPicPr>
          <p:cNvPr id="6" name="shap-global" descr="/home/claude/twin-t2d-v2/docs/shap_glob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011680"/>
            <a:ext cx="6949440" cy="277977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1600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A7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Global view: which features matter most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937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high model. Right: low model.</a:t>
            </a:r>
            <a:endParaRPr lang="en-US" sz="1400" dirty="0"/>
          </a:p>
        </p:txBody>
      </p:sp>
      <p:sp>
        <p:nvSpPr>
          <p:cNvPr id="9" name="shap-explain"/>
          <p:cNvSpPr/>
          <p:nvPr/>
        </p:nvSpPr>
        <p:spPr>
          <a:xfrm>
            <a:off x="8046720" y="1463040"/>
            <a:ext cx="3593592" cy="4480560"/>
          </a:xfrm>
          <a:prstGeom prst="roundRect">
            <a:avLst>
              <a:gd name="adj" fmla="val 3817"/>
            </a:avLst>
          </a:prstGeom>
          <a:solidFill>
            <a:srgbClr val="E4F1FA"/>
          </a:solidFill>
          <a:ln w="12700">
            <a:solidFill>
              <a:srgbClr val="E4F1FA"/>
            </a:solidFill>
            <a:prstDash val="solid"/>
          </a:ln>
          <a:effectLst>
            <a:outerShdw sx="100000" sy="100000" kx="0" ky="0" algn="bl" rotWithShape="0" blurRad="101600" dist="25400" dir="5400000">
              <a:srgbClr val="8FB5A6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321040" y="16459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C8F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SHAP does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8321040" y="219456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Shares credit for one prediction among the features, like splitting a team prize fairly. The dashboard shows the push of each feature for the chosen patient and moment. It explains the model, not biology.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Doctor's view of the virtual patient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 Japji Kaur Dardi  |  Thapar Institute of Engineering and Technology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patient-card"/>
          <p:cNvSpPr/>
          <p:nvPr/>
        </p:nvSpPr>
        <p:spPr>
          <a:xfrm>
            <a:off x="548640" y="1463040"/>
            <a:ext cx="3017520" cy="4480560"/>
          </a:xfrm>
          <a:prstGeom prst="roundRect">
            <a:avLst>
              <a:gd name="adj" fmla="val 4545"/>
            </a:avLst>
          </a:prstGeom>
          <a:solidFill>
            <a:srgbClr val="EEF7F2"/>
          </a:solidFill>
          <a:ln w="12700">
            <a:solidFill>
              <a:srgbClr val="EEF7F2"/>
            </a:solidFill>
            <a:prstDash val="solid"/>
          </a:ln>
          <a:effectLst>
            <a:outerShdw sx="100000" sy="100000" kx="0" ky="0" algn="bl" rotWithShape="0" blurRad="101600" dist="25400" dir="5400000">
              <a:srgbClr val="8FB5A6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16916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FA7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 #3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 card: age, BMI, HbA1c, eGFR, medication, genetic risk, with live glucose, sleep and steps</a:t>
            </a:r>
            <a:endParaRPr lang="en-US" sz="1600" dirty="0"/>
          </a:p>
        </p:txBody>
      </p:sp>
      <p:sp>
        <p:nvSpPr>
          <p:cNvPr id="8" name="alert-pill"/>
          <p:cNvSpPr/>
          <p:nvPr/>
        </p:nvSpPr>
        <p:spPr>
          <a:xfrm>
            <a:off x="822960" y="4572000"/>
            <a:ext cx="2468880" cy="1005840"/>
          </a:xfrm>
          <a:prstGeom prst="roundRect">
            <a:avLst>
              <a:gd name="adj" fmla="val 10909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4617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4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HIGH and LOW alerts with adjustable thresholds</a:t>
            </a:r>
            <a:endParaRPr lang="en-US" sz="1400" dirty="0"/>
          </a:p>
        </p:txBody>
      </p:sp>
      <p:sp>
        <p:nvSpPr>
          <p:cNvPr id="10" name="glucose-card"/>
          <p:cNvSpPr/>
          <p:nvPr/>
        </p:nvSpPr>
        <p:spPr>
          <a:xfrm>
            <a:off x="3840480" y="1463040"/>
            <a:ext cx="7799832" cy="2834640"/>
          </a:xfrm>
          <a:prstGeom prst="roundRect">
            <a:avLst>
              <a:gd name="adj" fmla="val 4839"/>
            </a:avLst>
          </a:prstGeom>
          <a:solidFill>
            <a:srgbClr val="E4F1FA"/>
          </a:solidFill>
          <a:ln w="12700">
            <a:solidFill>
              <a:srgbClr val="E4F1FA"/>
            </a:solidFill>
            <a:prstDash val="solid"/>
          </a:ln>
          <a:effectLst>
            <a:outerShdw sx="100000" sy="100000" kx="0" ky="0" algn="bl" rotWithShape="0" blurRad="101600" dist="25400" dir="5400000">
              <a:srgbClr val="8FB5A6">
                <a:alpha val="25000"/>
              </a:srgbClr>
            </a:outerShdw>
          </a:effectLst>
        </p:spPr>
      </p:sp>
      <p:graphicFrame>
        <p:nvGraphicFramePr>
          <p:cNvPr id="11" name="Chart 0" descr=""/>
          <p:cNvGraphicFramePr/>
          <p:nvPr/>
        </p:nvGraphicFramePr>
        <p:xfrm>
          <a:off x="3977640" y="1554480"/>
          <a:ext cx="749808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whatif-card"/>
          <p:cNvSpPr/>
          <p:nvPr/>
        </p:nvSpPr>
        <p:spPr>
          <a:xfrm>
            <a:off x="3840480" y="4526280"/>
            <a:ext cx="7799832" cy="1417320"/>
          </a:xfrm>
          <a:prstGeom prst="roundRect">
            <a:avLst>
              <a:gd name="adj" fmla="val 9677"/>
            </a:avLst>
          </a:prstGeom>
          <a:solidFill>
            <a:srgbClr val="EEF7F2"/>
          </a:solidFill>
          <a:ln w="12700">
            <a:solidFill>
              <a:srgbClr val="EEF7F2"/>
            </a:solidFill>
            <a:prstDash val="solid"/>
          </a:ln>
          <a:effectLst>
            <a:outerShdw sx="100000" sy="100000" kx="0" ky="0" algn="bl" rotWithShape="0" blurRad="101600" dist="25400" dir="5400000">
              <a:srgbClr val="8FB5A6">
                <a:alpha val="2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114800" y="4663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FA7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What-if simulation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4114800" y="5074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steps or sleep up or down and the twin re-scores both 2 hour risks instantly.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safety thinking (SaMD)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 Japji Kaur Dardi  |  Thapar Institute of Engineering and Technology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afety-0"/>
          <p:cNvSpPr/>
          <p:nvPr/>
        </p:nvSpPr>
        <p:spPr>
          <a:xfrm>
            <a:off x="548640" y="1554480"/>
            <a:ext cx="2606040" cy="4389120"/>
          </a:xfrm>
          <a:prstGeom prst="roundRect">
            <a:avLst>
              <a:gd name="adj" fmla="val 5263"/>
            </a:avLst>
          </a:prstGeom>
          <a:solidFill>
            <a:srgbClr val="EEF7F2"/>
          </a:solidFill>
          <a:ln w="12700">
            <a:solidFill>
              <a:srgbClr val="EEF7F2"/>
            </a:solidFill>
            <a:prstDash val="solid"/>
          </a:ln>
          <a:effectLst>
            <a:outerShdw sx="100000" sy="100000" kx="0" ky="0" algn="bl" rotWithShape="0" blurRad="101600" dist="25400" dir="5400000">
              <a:srgbClr val="8FB5A6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18288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FA7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Intended use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43200"/>
            <a:ext cx="2103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Clinician decision support for adults with T2D wearing a CGM. Not for treatment, dosing or replacing device alarms.</a:t>
            </a:r>
            <a:endParaRPr lang="en-US" sz="1500" dirty="0"/>
          </a:p>
        </p:txBody>
      </p:sp>
      <p:sp>
        <p:nvSpPr>
          <p:cNvPr id="8" name="safety-1"/>
          <p:cNvSpPr/>
          <p:nvPr/>
        </p:nvSpPr>
        <p:spPr>
          <a:xfrm>
            <a:off x="3364992" y="1554480"/>
            <a:ext cx="2606040" cy="4389120"/>
          </a:xfrm>
          <a:prstGeom prst="roundRect">
            <a:avLst>
              <a:gd name="adj" fmla="val 5263"/>
            </a:avLst>
          </a:prstGeom>
          <a:solidFill>
            <a:srgbClr val="E4F1FA"/>
          </a:solidFill>
          <a:ln w="12700">
            <a:solidFill>
              <a:srgbClr val="E4F1FA"/>
            </a:solidFill>
            <a:prstDash val="solid"/>
          </a:ln>
          <a:effectLst>
            <a:outerShdw sx="100000" sy="100000" kx="0" ky="0" algn="bl" rotWithShape="0" blurRad="101600" dist="25400" dir="5400000">
              <a:srgbClr val="8FB5A6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39312" y="18288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C8F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Likely SaMD class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39312" y="2743200"/>
            <a:ext cx="2103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as a Medical Device, plausibly low-to-middle risk (IMDRF I to II). Needs a formal regulatory assessment (CDSCO in India).</a:t>
            </a:r>
            <a:endParaRPr lang="en-US" sz="1500" dirty="0"/>
          </a:p>
        </p:txBody>
      </p:sp>
      <p:sp>
        <p:nvSpPr>
          <p:cNvPr id="11" name="safety-2"/>
          <p:cNvSpPr/>
          <p:nvPr/>
        </p:nvSpPr>
        <p:spPr>
          <a:xfrm>
            <a:off x="6181344" y="1554480"/>
            <a:ext cx="2606040" cy="4389120"/>
          </a:xfrm>
          <a:prstGeom prst="roundRect">
            <a:avLst>
              <a:gd name="adj" fmla="val 5263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  <a:effectLst>
            <a:outerShdw sx="100000" sy="100000" kx="0" ky="0" algn="bl" rotWithShape="0" blurRad="101600" dist="25400" dir="5400000">
              <a:srgbClr val="8FB5A6">
                <a:alpha val="2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55664" y="18288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97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risks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455664" y="2743200"/>
            <a:ext cx="2103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low alert, false alarms, synthetic-data bias, what-if misread as advice. Each has a mitigation in SAFETY.md.</a:t>
            </a:r>
            <a:endParaRPr lang="en-US" sz="1500" dirty="0"/>
          </a:p>
        </p:txBody>
      </p:sp>
      <p:sp>
        <p:nvSpPr>
          <p:cNvPr id="14" name="safety-3"/>
          <p:cNvSpPr/>
          <p:nvPr/>
        </p:nvSpPr>
        <p:spPr>
          <a:xfrm>
            <a:off x="8997696" y="1554480"/>
            <a:ext cx="2606040" cy="4389120"/>
          </a:xfrm>
          <a:prstGeom prst="roundRect">
            <a:avLst>
              <a:gd name="adj" fmla="val 5263"/>
            </a:avLst>
          </a:prstGeom>
          <a:solidFill>
            <a:srgbClr val="DDEFE6"/>
          </a:solidFill>
          <a:ln w="12700">
            <a:solidFill>
              <a:srgbClr val="DDEFE6"/>
            </a:solidFill>
            <a:prstDash val="solid"/>
          </a:ln>
          <a:effectLst>
            <a:outerShdw sx="100000" sy="100000" kx="0" ky="0" algn="bl" rotWithShape="0" blurRad="101600" dist="25400" dir="5400000">
              <a:srgbClr val="8FB5A6">
                <a:alpha val="2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272016" y="18288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FA7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compliance claim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9272016" y="2743200"/>
            <a:ext cx="2103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ISO 13485 / 14971 / IEC 62304 evidence exists here, so none is claimed. Real validation comes first.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matters, and what to be honest about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 Japji Kaur Dardi  |  Thapar Institute of Engineering and Technology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india-card"/>
          <p:cNvSpPr/>
          <p:nvPr/>
        </p:nvSpPr>
        <p:spPr>
          <a:xfrm>
            <a:off x="548640" y="1554480"/>
            <a:ext cx="5440680" cy="3566160"/>
          </a:xfrm>
          <a:prstGeom prst="roundRect">
            <a:avLst>
              <a:gd name="adj" fmla="val 3846"/>
            </a:avLst>
          </a:prstGeom>
          <a:solidFill>
            <a:srgbClr val="EEF7F2"/>
          </a:solidFill>
          <a:ln w="12700">
            <a:solidFill>
              <a:srgbClr val="EEF7F2"/>
            </a:solidFill>
            <a:prstDash val="solid"/>
          </a:ln>
          <a:effectLst>
            <a:outerShdw sx="100000" sy="100000" kx="0" ky="0" algn="bl" rotWithShape="0" blurRad="101600" dist="25400" dir="5400000">
              <a:srgbClr val="8FB5A6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17830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FA7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Relevance to India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23160"/>
            <a:ext cx="49377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Huge and growing T2D burden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Carbohydrate-heavy diets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Low-cost wearables and CGM are spreading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alerts support earlier intervention</a:t>
            </a:r>
            <a:endParaRPr lang="en-US" sz="1800" dirty="0"/>
          </a:p>
        </p:txBody>
      </p:sp>
      <p:sp>
        <p:nvSpPr>
          <p:cNvPr id="8" name="limits-card"/>
          <p:cNvSpPr/>
          <p:nvPr/>
        </p:nvSpPr>
        <p:spPr>
          <a:xfrm>
            <a:off x="6199632" y="1554480"/>
            <a:ext cx="5440680" cy="3566160"/>
          </a:xfrm>
          <a:prstGeom prst="roundRect">
            <a:avLst>
              <a:gd name="adj" fmla="val 3846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  <a:effectLst>
            <a:outerShdw sx="100000" sy="100000" kx="0" ky="0" algn="bl" rotWithShape="0" blurRad="101600" dist="25400" dir="5400000">
              <a:srgbClr val="8FB5A6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73952" y="17830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6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6473952" y="2423160"/>
            <a:ext cx="49377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data: results are an upper bound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 encodes assumed physiology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Lows depend on a simulated drug effect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medical device; not clinically validated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 Japji Kaur Dardi  |  Thapar Institute of Engineering and Technology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next-1"/>
          <p:cNvSpPr/>
          <p:nvPr/>
        </p:nvSpPr>
        <p:spPr>
          <a:xfrm>
            <a:off x="548640" y="1737360"/>
            <a:ext cx="2606040" cy="3840480"/>
          </a:xfrm>
          <a:prstGeom prst="roundRect">
            <a:avLst>
              <a:gd name="adj" fmla="val 5263"/>
            </a:avLst>
          </a:prstGeom>
          <a:solidFill>
            <a:srgbClr val="EEF7F2"/>
          </a:solidFill>
          <a:ln w="12700">
            <a:solidFill>
              <a:srgbClr val="EEF7F2"/>
            </a:solidFill>
            <a:prstDash val="solid"/>
          </a:ln>
          <a:effectLst>
            <a:outerShdw sx="100000" sy="100000" kx="0" ky="0" algn="bl" rotWithShape="0" blurRad="101600" dist="25400" dir="5400000">
              <a:srgbClr val="8FB5A6">
                <a:alpha val="25000"/>
              </a:srgbClr>
            </a:outerShdw>
          </a:effectLst>
        </p:spPr>
      </p:sp>
      <p:sp>
        <p:nvSpPr>
          <p:cNvPr id="6" name="num-1"/>
          <p:cNvSpPr/>
          <p:nvPr/>
        </p:nvSpPr>
        <p:spPr>
          <a:xfrm>
            <a:off x="822960" y="2011680"/>
            <a:ext cx="822960" cy="8229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011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FA7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0175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 on real data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93192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ShanghaiT2DM test script included; then Indian cohorts</a:t>
            </a:r>
            <a:endParaRPr lang="en-US" sz="1500" dirty="0"/>
          </a:p>
        </p:txBody>
      </p:sp>
      <p:sp>
        <p:nvSpPr>
          <p:cNvPr id="10" name="next-2"/>
          <p:cNvSpPr/>
          <p:nvPr/>
        </p:nvSpPr>
        <p:spPr>
          <a:xfrm>
            <a:off x="3364992" y="1737360"/>
            <a:ext cx="2606040" cy="3840480"/>
          </a:xfrm>
          <a:prstGeom prst="roundRect">
            <a:avLst>
              <a:gd name="adj" fmla="val 5263"/>
            </a:avLst>
          </a:prstGeom>
          <a:solidFill>
            <a:srgbClr val="E4F1FA"/>
          </a:solidFill>
          <a:ln w="12700">
            <a:solidFill>
              <a:srgbClr val="E4F1FA"/>
            </a:solidFill>
            <a:prstDash val="solid"/>
          </a:ln>
          <a:effectLst>
            <a:outerShdw sx="100000" sy="100000" kx="0" ky="0" algn="bl" rotWithShape="0" blurRad="101600" dist="25400" dir="5400000">
              <a:srgbClr val="8FB5A6">
                <a:alpha val="25000"/>
              </a:srgbClr>
            </a:outerShdw>
          </a:effectLst>
        </p:spPr>
      </p:sp>
      <p:sp>
        <p:nvSpPr>
          <p:cNvPr id="11" name="num-2"/>
          <p:cNvSpPr/>
          <p:nvPr/>
        </p:nvSpPr>
        <p:spPr>
          <a:xfrm>
            <a:off x="3639312" y="2011680"/>
            <a:ext cx="822960" cy="8229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39312" y="2011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C8F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3639312" y="30175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Richer signals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639312" y="393192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HRV, sleep stages, meal logging, Indian food database</a:t>
            </a:r>
            <a:endParaRPr lang="en-US" sz="1500" dirty="0"/>
          </a:p>
        </p:txBody>
      </p:sp>
      <p:sp>
        <p:nvSpPr>
          <p:cNvPr id="15" name="next-3"/>
          <p:cNvSpPr/>
          <p:nvPr/>
        </p:nvSpPr>
        <p:spPr>
          <a:xfrm>
            <a:off x="6181344" y="1737360"/>
            <a:ext cx="2606040" cy="3840480"/>
          </a:xfrm>
          <a:prstGeom prst="roundRect">
            <a:avLst>
              <a:gd name="adj" fmla="val 5263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  <a:effectLst>
            <a:outerShdw sx="100000" sy="100000" kx="0" ky="0" algn="bl" rotWithShape="0" blurRad="101600" dist="25400" dir="5400000">
              <a:srgbClr val="8FB5A6">
                <a:alpha val="25000"/>
              </a:srgbClr>
            </a:outerShdw>
          </a:effectLst>
        </p:spPr>
      </p:sp>
      <p:sp>
        <p:nvSpPr>
          <p:cNvPr id="16" name="num-3"/>
          <p:cNvSpPr/>
          <p:nvPr/>
        </p:nvSpPr>
        <p:spPr>
          <a:xfrm>
            <a:off x="6455664" y="2011680"/>
            <a:ext cx="822960" cy="8229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55664" y="2011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7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6455664" y="30175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Better models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455664" y="393192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/ TCN sequence models, SHAP explanations</a:t>
            </a:r>
            <a:endParaRPr lang="en-US" sz="1500" dirty="0"/>
          </a:p>
        </p:txBody>
      </p:sp>
      <p:sp>
        <p:nvSpPr>
          <p:cNvPr id="20" name="next-4"/>
          <p:cNvSpPr/>
          <p:nvPr/>
        </p:nvSpPr>
        <p:spPr>
          <a:xfrm>
            <a:off x="8997696" y="1737360"/>
            <a:ext cx="2606040" cy="3840480"/>
          </a:xfrm>
          <a:prstGeom prst="roundRect">
            <a:avLst>
              <a:gd name="adj" fmla="val 5263"/>
            </a:avLst>
          </a:prstGeom>
          <a:solidFill>
            <a:srgbClr val="DDEFE6"/>
          </a:solidFill>
          <a:ln w="12700">
            <a:solidFill>
              <a:srgbClr val="DDEFE6"/>
            </a:solidFill>
            <a:prstDash val="solid"/>
          </a:ln>
          <a:effectLst>
            <a:outerShdw sx="100000" sy="100000" kx="0" ky="0" algn="bl" rotWithShape="0" blurRad="101600" dist="25400" dir="5400000">
              <a:srgbClr val="8FB5A6">
                <a:alpha val="25000"/>
              </a:srgbClr>
            </a:outerShdw>
          </a:effectLst>
        </p:spPr>
      </p:sp>
      <p:sp>
        <p:nvSpPr>
          <p:cNvPr id="21" name="num-4"/>
          <p:cNvSpPr/>
          <p:nvPr/>
        </p:nvSpPr>
        <p:spPr>
          <a:xfrm>
            <a:off x="9272016" y="2011680"/>
            <a:ext cx="822960" cy="8229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72016" y="2011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FA7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9272016" y="30175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Clinician pilot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272016" y="393192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usefulness and alert fatigue with doctors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8064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FA7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T2D Digital Twin v2</dc:title>
  <dc:subject>PptxGenJS Presentation</dc:subject>
  <dc:creator>Sri Japji Kaur Dardi</dc:creator>
  <cp:lastModifiedBy>Sri Japji Kaur Dardi</cp:lastModifiedBy>
  <cp:revision>1</cp:revision>
  <dcterms:created xsi:type="dcterms:W3CDTF">2026-10-19T22:57:50Z</dcterms:created>
  <dcterms:modified xsi:type="dcterms:W3CDTF">2026-10-19T22:57:50Z</dcterms:modified>
</cp:coreProperties>
</file>